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4118" r:id="rId4"/>
    <p:sldMasterId id="2147484303" r:id="rId5"/>
    <p:sldMasterId id="2147484310" r:id="rId6"/>
  </p:sldMasterIdLst>
  <p:notesMasterIdLst>
    <p:notesMasterId r:id="rId17"/>
  </p:notesMasterIdLst>
  <p:handoutMasterIdLst>
    <p:handoutMasterId r:id="rId18"/>
  </p:handoutMasterIdLst>
  <p:sldIdLst>
    <p:sldId id="2147483043" r:id="rId7"/>
    <p:sldId id="384" r:id="rId8"/>
    <p:sldId id="2147483032" r:id="rId9"/>
    <p:sldId id="2147483034" r:id="rId10"/>
    <p:sldId id="2147483038" r:id="rId11"/>
    <p:sldId id="2147483039" r:id="rId12"/>
    <p:sldId id="2147483040" r:id="rId13"/>
    <p:sldId id="2147483041" r:id="rId14"/>
    <p:sldId id="2147483042" r:id="rId15"/>
    <p:sldId id="2147482988" r:id="rId16"/>
  </p:sldIdLst>
  <p:sldSz cx="12192000" cy="6858000"/>
  <p:notesSz cx="6797675" cy="9926638"/>
  <p:embeddedFontLst>
    <p:embeddedFont>
      <p:font typeface="Gadugi" panose="020B0502040204020203" pitchFamily="34" charset="0"/>
      <p:regular r:id="rId19"/>
      <p:bold r:id="rId20"/>
    </p:embeddedFont>
    <p:embeddedFont>
      <p:font typeface="Ubuntu" panose="020B0504030602030204" pitchFamily="34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custDataLst>
    <p:tags r:id="rId29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liance Working Group" id="{2E0BE75A-4C96-4AC3-84F7-661FA08D3D18}">
          <p14:sldIdLst>
            <p14:sldId id="2147483043"/>
          </p14:sldIdLst>
        </p14:section>
        <p14:section name="Summary" id="{8C9D8D20-0D17-4CBC-BBAB-A45BD6907649}">
          <p14:sldIdLst>
            <p14:sldId id="384"/>
            <p14:sldId id="2147483032"/>
            <p14:sldId id="2147483034"/>
            <p14:sldId id="2147483038"/>
            <p14:sldId id="2147483039"/>
            <p14:sldId id="2147483040"/>
            <p14:sldId id="2147483041"/>
            <p14:sldId id="2147483042"/>
            <p14:sldId id="2147482988"/>
          </p14:sldIdLst>
        </p14:section>
      </p14:sectionLst>
    </p:ext>
    <p:ext uri="{EFAFB233-063F-42B5-8137-9DF3F51BA10A}">
      <p15:sldGuideLst xmlns:p15="http://schemas.microsoft.com/office/powerpoint/2012/main">
        <p15:guide id="10" orient="horz" pos="2954" userDrawn="1">
          <p15:clr>
            <a:srgbClr val="A4A3A4"/>
          </p15:clr>
        </p15:guide>
        <p15:guide id="19" pos="5632" userDrawn="1">
          <p15:clr>
            <a:srgbClr val="A4A3A4"/>
          </p15:clr>
        </p15:guide>
        <p15:guide id="20" pos="2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24ED0C-1EA9-587D-5C35-762D2428A11D}" name="Hoenig, Nick" initials="NH" userId="S::nick.hoenig@capgemini.com::b0cbed68-de20-4af2-a48a-933109547de7" providerId="AD"/>
  <p188:author id="{7E81490E-2189-3EA1-3109-F47ADC25E5EB}" name="Chen, Katie" initials="KC" userId="S::katie.chen@capgemini.com::a8df9609-c59b-4d59-b215-5dcad9439046" providerId="AD"/>
  <p188:author id="{39BB1222-F0BA-882D-6C56-FE74862662F3}" name="Wolfe-Coote, Vanessa" initials="" userId="S::vanessa.wolfe-coote@capgemini.com::1b8ec632-8026-47df-a303-ab580865118a" providerId="AD"/>
  <p188:author id="{AC8B5143-051C-E4A2-FBCF-C77072857CC2}" name="Marie, Melanie" initials="MM" userId="S::melanie.marie@capgemini.com::86fd03af-23be-4a2a-a037-f41514f7367d" providerId="AD"/>
  <p188:author id="{1FA80082-41A5-BEF8-6866-7EF5713BC3BE}" name="Goodman-Jones, Philip" initials="PG" userId="S::philip.goodman-jones@capgemini.com::56e2628f-c2ab-494a-ae9d-4a46818b53be" providerId="AD"/>
  <p188:author id="{64C876AD-CDD9-1A75-B040-65ACB93CAEAC}" name="Bhatkar, Pooja" initials="" userId="S::pooja.bhatkar@capgemini.com::afb20bcc-7704-4c3e-b235-0965b26ca609" providerId="AD"/>
  <p188:author id="{890879E9-6D5F-3709-E4E9-8310D22EA9C2}" name="Mina, George" initials="" userId="S::gerges.mina@capgemini.com::74b74214-41ff-4f1d-8df7-2be57dff5b17" providerId="AD"/>
  <p188:author id="{F50F60EB-1CEF-23A3-9C27-E34A25C359A3}" name="Schloeffel, Jake" initials="JS" userId="S::jake.schloeffel@capgemini.com::533ecf83-8dbe-4ae2-94c4-d6b1699ec1c6" providerId="AD"/>
  <p188:author id="{D4DCA3F7-DF72-252E-334E-DD4AD5F17508}" name="Menon.V, Hari" initials="HM" userId="S::hari.menon-v@capgemini.com::a9bd8dc8-183b-4e30-862e-e9e8fa00a43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A125"/>
    <a:srgbClr val="FFC000"/>
    <a:srgbClr val="92D050"/>
    <a:srgbClr val="0F4350"/>
    <a:srgbClr val="F2F2F2"/>
    <a:srgbClr val="FFFFFF"/>
    <a:srgbClr val="FFDA80"/>
    <a:srgbClr val="FFC7B3"/>
    <a:srgbClr val="F2F08A"/>
    <a:srgbClr val="FFE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56832-53A0-4839-9AD6-CE20791273EA}" v="2132" dt="2026-04-14T04:52:57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54"/>
        <p:guide pos="5632"/>
        <p:guide pos="2071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font" Target="fonts/font2.fntdata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Australian Signals Directorate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Policy settings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20-4950-992B-C38008F9396D}"/>
              </c:ext>
            </c:extLst>
          </c:dPt>
          <c:dPt>
            <c:idx val="1"/>
            <c:bubble3D val="0"/>
            <c:spPr>
              <a:solidFill>
                <a:srgbClr val="FFA12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720-4950-992B-C38008F9396D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720-4950-992B-C38008F939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2"/>
                <c:pt idx="0">
                  <c:v>Compliant</c:v>
                </c:pt>
                <c:pt idx="1">
                  <c:v>Non-compliant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426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20-4950-992B-C38008F93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Microsoft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Policy settings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939-497C-8AD6-CCB16F3AED4B}"/>
              </c:ext>
            </c:extLst>
          </c:dPt>
          <c:dPt>
            <c:idx val="1"/>
            <c:bubble3D val="0"/>
            <c:spPr>
              <a:solidFill>
                <a:srgbClr val="FFA12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939-497C-8AD6-CCB16F3AED4B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939-497C-8AD6-CCB16F3AED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2"/>
                <c:pt idx="0">
                  <c:v>Compliant</c:v>
                </c:pt>
                <c:pt idx="1">
                  <c:v>Non-compliant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317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939-497C-8AD6-CCB16F3AED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Australian Signals Directorate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Policy settings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4F-4C5D-9618-3D735BE144F2}"/>
              </c:ext>
            </c:extLst>
          </c:dPt>
          <c:dPt>
            <c:idx val="1"/>
            <c:bubble3D val="0"/>
            <c:spPr>
              <a:solidFill>
                <a:srgbClr val="FFA12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4F-4C5D-9618-3D735BE144F2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4F-4C5D-9618-3D735BE144F2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9D-49D8-B32D-8D41F4DC77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Windows</c:v>
                </c:pt>
                <c:pt idx="1">
                  <c:v>Office</c:v>
                </c:pt>
                <c:pt idx="3">
                  <c:v>Edge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4F-4C5D-9618-3D735BE14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Microsoft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Policy settings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F9-49FC-B481-F4E7BD2DEBEA}"/>
              </c:ext>
            </c:extLst>
          </c:dPt>
          <c:dPt>
            <c:idx val="1"/>
            <c:bubble3D val="0"/>
            <c:spPr>
              <a:solidFill>
                <a:srgbClr val="FFA12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F9-49FC-B481-F4E7BD2DEBEA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F9-49FC-B481-F4E7BD2DEBEA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F9-49FC-B481-F4E7BD2DEBE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Windows</c:v>
                </c:pt>
                <c:pt idx="1">
                  <c:v>Office</c:v>
                </c:pt>
                <c:pt idx="3">
                  <c:v>Edge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F9-49FC-B481-F4E7BD2DEB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/>
              <a:pPr/>
              <a:t>23/06/2026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23/06/2026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8" tIns="45708" rIns="91418" bIns="45708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8" tIns="45708" rIns="91418" bIns="45708" rtlCol="0"/>
          <a:lstStyle/>
          <a:p>
            <a:pPr lvl="0"/>
            <a:r>
              <a:rPr lang="pt-PT"/>
              <a:t>Insert comments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11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8E7D1-50C0-6FDC-D210-6C477960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53BF4-F058-DF2F-A10E-A4F814110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EA898-4136-DE54-F72F-513D7DD66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0B64-E12A-1C38-9416-A8B5D908F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836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8E7D1-50C0-6FDC-D210-6C477960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53BF4-F058-DF2F-A10E-A4F814110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EA898-4136-DE54-F72F-513D7DD66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0B64-E12A-1C38-9416-A8B5D908F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163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554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228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7123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27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611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slideshare.net/capgemini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285134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38670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285134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37536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537237"/>
            <a:ext cx="4597606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98780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78986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20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8B5D9CCD-97AB-0A8C-8F1D-AB5C4C775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7808" y="-1636495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68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26607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icture White Spa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515EF69-611F-4B2F-BC64-DD310E6001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911680 w 12192000"/>
              <a:gd name="connsiteY0" fmla="*/ 373627 h 6858000"/>
              <a:gd name="connsiteX1" fmla="*/ 11857975 w 12192000"/>
              <a:gd name="connsiteY1" fmla="*/ 408564 h 6858000"/>
              <a:gd name="connsiteX2" fmla="*/ 11820236 w 12192000"/>
              <a:gd name="connsiteY2" fmla="*/ 476983 h 6858000"/>
              <a:gd name="connsiteX3" fmla="*/ 11778143 w 12192000"/>
              <a:gd name="connsiteY3" fmla="*/ 538124 h 6858000"/>
              <a:gd name="connsiteX4" fmla="*/ 11708472 w 12192000"/>
              <a:gd name="connsiteY4" fmla="*/ 581796 h 6858000"/>
              <a:gd name="connsiteX5" fmla="*/ 11753468 w 12192000"/>
              <a:gd name="connsiteY5" fmla="*/ 593441 h 6858000"/>
              <a:gd name="connsiteX6" fmla="*/ 11802818 w 12192000"/>
              <a:gd name="connsiteY6" fmla="*/ 589074 h 6858000"/>
              <a:gd name="connsiteX7" fmla="*/ 11887005 w 12192000"/>
              <a:gd name="connsiteY7" fmla="*/ 552681 h 6858000"/>
              <a:gd name="connsiteX8" fmla="*/ 11823139 w 12192000"/>
              <a:gd name="connsiteY8" fmla="*/ 494452 h 6858000"/>
              <a:gd name="connsiteX9" fmla="*/ 11911680 w 12192000"/>
              <a:gd name="connsiteY9" fmla="*/ 522111 h 6858000"/>
              <a:gd name="connsiteX10" fmla="*/ 11974094 w 12192000"/>
              <a:gd name="connsiteY10" fmla="*/ 460970 h 6858000"/>
              <a:gd name="connsiteX11" fmla="*/ 11972642 w 12192000"/>
              <a:gd name="connsiteY11" fmla="*/ 404197 h 6858000"/>
              <a:gd name="connsiteX12" fmla="*/ 11911680 w 12192000"/>
              <a:gd name="connsiteY12" fmla="*/ 373627 h 6858000"/>
              <a:gd name="connsiteX13" fmla="*/ 11785438 w 12192000"/>
              <a:gd name="connsiteY13" fmla="*/ 207688 h 6858000"/>
              <a:gd name="connsiteX14" fmla="*/ 11562864 w 12192000"/>
              <a:gd name="connsiteY14" fmla="*/ 439169 h 6858000"/>
              <a:gd name="connsiteX15" fmla="*/ 11639965 w 12192000"/>
              <a:gd name="connsiteY15" fmla="*/ 551270 h 6858000"/>
              <a:gd name="connsiteX16" fmla="*/ 11725794 w 12192000"/>
              <a:gd name="connsiteY16" fmla="*/ 546903 h 6858000"/>
              <a:gd name="connsiteX17" fmla="*/ 11786893 w 12192000"/>
              <a:gd name="connsiteY17" fmla="*/ 490124 h 6858000"/>
              <a:gd name="connsiteX18" fmla="*/ 11833444 w 12192000"/>
              <a:gd name="connsiteY18" fmla="*/ 412964 h 6858000"/>
              <a:gd name="connsiteX19" fmla="*/ 11895998 w 12192000"/>
              <a:gd name="connsiteY19" fmla="*/ 360553 h 6858000"/>
              <a:gd name="connsiteX20" fmla="*/ 11971644 w 12192000"/>
              <a:gd name="connsiteY20" fmla="*/ 379479 h 6858000"/>
              <a:gd name="connsiteX21" fmla="*/ 11907636 w 12192000"/>
              <a:gd name="connsiteY21" fmla="*/ 281937 h 6858000"/>
              <a:gd name="connsiteX22" fmla="*/ 11795621 w 12192000"/>
              <a:gd name="connsiteY22" fmla="*/ 212056 h 6858000"/>
              <a:gd name="connsiteX23" fmla="*/ 11785438 w 12192000"/>
              <a:gd name="connsiteY23" fmla="*/ 207688 h 6858000"/>
              <a:gd name="connsiteX24" fmla="*/ 0 w 12192000"/>
              <a:gd name="connsiteY24" fmla="*/ 0 h 6858000"/>
              <a:gd name="connsiteX25" fmla="*/ 12192000 w 12192000"/>
              <a:gd name="connsiteY25" fmla="*/ 0 h 6858000"/>
              <a:gd name="connsiteX26" fmla="*/ 12192000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911680" y="373627"/>
                </a:moveTo>
                <a:cubicBezTo>
                  <a:pt x="11888456" y="375083"/>
                  <a:pt x="11871038" y="389640"/>
                  <a:pt x="11857975" y="408564"/>
                </a:cubicBezTo>
                <a:cubicBezTo>
                  <a:pt x="11842009" y="428944"/>
                  <a:pt x="11831848" y="453692"/>
                  <a:pt x="11820236" y="476983"/>
                </a:cubicBezTo>
                <a:cubicBezTo>
                  <a:pt x="11808624" y="498819"/>
                  <a:pt x="11795561" y="519199"/>
                  <a:pt x="11778143" y="538124"/>
                </a:cubicBezTo>
                <a:cubicBezTo>
                  <a:pt x="11759274" y="558504"/>
                  <a:pt x="11736050" y="574517"/>
                  <a:pt x="11708472" y="581796"/>
                </a:cubicBezTo>
                <a:cubicBezTo>
                  <a:pt x="11721535" y="590530"/>
                  <a:pt x="11738953" y="593441"/>
                  <a:pt x="11753468" y="593441"/>
                </a:cubicBezTo>
                <a:cubicBezTo>
                  <a:pt x="11769434" y="594897"/>
                  <a:pt x="11786852" y="591986"/>
                  <a:pt x="11802818" y="589074"/>
                </a:cubicBezTo>
                <a:cubicBezTo>
                  <a:pt x="11833300" y="584707"/>
                  <a:pt x="11865232" y="574517"/>
                  <a:pt x="11887005" y="552681"/>
                </a:cubicBezTo>
                <a:cubicBezTo>
                  <a:pt x="11852169" y="552681"/>
                  <a:pt x="11824591" y="529389"/>
                  <a:pt x="11823139" y="494452"/>
                </a:cubicBezTo>
                <a:cubicBezTo>
                  <a:pt x="11844912" y="520655"/>
                  <a:pt x="11878296" y="530845"/>
                  <a:pt x="11911680" y="522111"/>
                </a:cubicBezTo>
                <a:cubicBezTo>
                  <a:pt x="11940709" y="513376"/>
                  <a:pt x="11965385" y="490085"/>
                  <a:pt x="11974094" y="460970"/>
                </a:cubicBezTo>
                <a:cubicBezTo>
                  <a:pt x="11979900" y="442046"/>
                  <a:pt x="11981351" y="423121"/>
                  <a:pt x="11972642" y="404197"/>
                </a:cubicBezTo>
                <a:cubicBezTo>
                  <a:pt x="11961030" y="382361"/>
                  <a:pt x="11936355" y="372171"/>
                  <a:pt x="11911680" y="373627"/>
                </a:cubicBezTo>
                <a:close/>
                <a:moveTo>
                  <a:pt x="11785438" y="207688"/>
                </a:moveTo>
                <a:cubicBezTo>
                  <a:pt x="11735977" y="268834"/>
                  <a:pt x="11562864" y="312510"/>
                  <a:pt x="11562864" y="439169"/>
                </a:cubicBezTo>
                <a:cubicBezTo>
                  <a:pt x="11562864" y="487212"/>
                  <a:pt x="11593413" y="533800"/>
                  <a:pt x="11639965" y="551270"/>
                </a:cubicBezTo>
                <a:cubicBezTo>
                  <a:pt x="11667605" y="561461"/>
                  <a:pt x="11698154" y="560005"/>
                  <a:pt x="11725794" y="546903"/>
                </a:cubicBezTo>
                <a:cubicBezTo>
                  <a:pt x="11751979" y="535256"/>
                  <a:pt x="11770891" y="514874"/>
                  <a:pt x="11786893" y="490124"/>
                </a:cubicBezTo>
                <a:cubicBezTo>
                  <a:pt x="11804350" y="465375"/>
                  <a:pt x="11817442" y="439169"/>
                  <a:pt x="11833444" y="412964"/>
                </a:cubicBezTo>
                <a:cubicBezTo>
                  <a:pt x="11847992" y="389670"/>
                  <a:pt x="11868358" y="366376"/>
                  <a:pt x="11895998" y="360553"/>
                </a:cubicBezTo>
                <a:cubicBezTo>
                  <a:pt x="11922183" y="353274"/>
                  <a:pt x="11952732" y="360553"/>
                  <a:pt x="11971644" y="379479"/>
                </a:cubicBezTo>
                <a:cubicBezTo>
                  <a:pt x="11960006" y="341627"/>
                  <a:pt x="11938185" y="309598"/>
                  <a:pt x="11907636" y="281937"/>
                </a:cubicBezTo>
                <a:cubicBezTo>
                  <a:pt x="11874177" y="251364"/>
                  <a:pt x="11836354" y="229526"/>
                  <a:pt x="11795621" y="212056"/>
                </a:cubicBezTo>
                <a:cubicBezTo>
                  <a:pt x="11792712" y="210600"/>
                  <a:pt x="11788348" y="209144"/>
                  <a:pt x="11785438" y="2076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 and send picture to back</a:t>
            </a:r>
          </a:p>
        </p:txBody>
      </p:sp>
      <p:grpSp>
        <p:nvGrpSpPr>
          <p:cNvPr id="12" name="Group 37">
            <a:extLst>
              <a:ext uri="{FF2B5EF4-FFF2-40B4-BE49-F238E27FC236}">
                <a16:creationId xmlns:a16="http://schemas.microsoft.com/office/drawing/2014/main" id="{410EED03-E568-4797-9F93-83A0DEAA8E73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3" name="Freeform 320">
              <a:extLst>
                <a:ext uri="{FF2B5EF4-FFF2-40B4-BE49-F238E27FC236}">
                  <a16:creationId xmlns:a16="http://schemas.microsoft.com/office/drawing/2014/main" id="{B7BDD3A5-74DC-407F-917E-4CAA2D7F6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21">
              <a:extLst>
                <a:ext uri="{FF2B5EF4-FFF2-40B4-BE49-F238E27FC236}">
                  <a16:creationId xmlns:a16="http://schemas.microsoft.com/office/drawing/2014/main" id="{AFD49D75-8E14-497D-BFBC-1AB7413E4B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F7412FBE-22A2-10A4-80F8-94BD980C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8920"/>
            <a:ext cx="7968207" cy="2949857"/>
          </a:xfrm>
          <a:solidFill>
            <a:schemeClr val="bg2"/>
          </a:solidFill>
        </p:spPr>
        <p:txBody>
          <a:bodyPr wrap="square" lIns="396000" tIns="360000" rIns="504000" bIns="1080000" anchor="ctr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FCD38E-1F71-EA8E-7048-F655798886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368" y="4725144"/>
            <a:ext cx="7273330" cy="276999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text style</a:t>
            </a:r>
            <a:endParaRPr lang="en-GB"/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AF040B7C-BA99-80E4-ADEC-EF1A9B8AD53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5" name="Freeform: Shape 2">
              <a:extLst>
                <a:ext uri="{FF2B5EF4-FFF2-40B4-BE49-F238E27FC236}">
                  <a16:creationId xmlns:a16="http://schemas.microsoft.com/office/drawing/2014/main" id="{2736C127-E287-E152-B949-1A8E281FAC35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3">
              <a:extLst>
                <a:ext uri="{FF2B5EF4-FFF2-40B4-BE49-F238E27FC236}">
                  <a16:creationId xmlns:a16="http://schemas.microsoft.com/office/drawing/2014/main" id="{5D6417A4-47EA-8498-0976-6F6D109764A2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37A9BD34-5705-83C5-110E-2B90C82970C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260B643F-0DB2-200F-37FB-A4E461B941D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id="{6EDEE20B-B43D-39AA-D956-E23CEEE0D60C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074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163739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69291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19679"/>
            <a:ext cx="4609034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4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537237"/>
            <a:ext cx="4597606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39025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38777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4793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87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506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51984" y="1628775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51984" y="2221388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51984" y="2814001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1984" y="3406614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51984" y="3999227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51984" y="4591841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65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5449900E-987A-B10E-123E-7DC13509743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1268413"/>
            <a:ext cx="5519738" cy="5113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129A54-4331-295F-FFF7-AADCD886AE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51984" y="5184455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1F960EB-6EA4-9123-ED77-13467723FA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1984" y="5777069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3763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CCF694C-872E-0362-0664-84FE017FBD57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7565" y="1863702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565" y="2456315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565" y="3048928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7565" y="3641541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7565" y="4234154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565" y="4826768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65" y="260350"/>
            <a:ext cx="5472411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129A54-4331-295F-FFF7-AADCD886AE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7565" y="5419382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1F960EB-6EA4-9123-ED77-13467723FA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7565" y="6011996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1927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Page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5AD1E928-17A7-8076-E72F-603525614D7F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A4C59602-5684-DA3C-4D8A-30F7343DD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39C738EB-51DE-C704-B75C-84CBCD5D6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0458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Dark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F377247D-74BF-7805-40B4-DB545D100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97776-2549-7DB5-A8EB-D215D146443F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58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37">
            <a:extLst>
              <a:ext uri="{FF2B5EF4-FFF2-40B4-BE49-F238E27FC236}">
                <a16:creationId xmlns:a16="http://schemas.microsoft.com/office/drawing/2014/main" id="{838FEBC1-EAA8-7662-5486-A10A8F0CC766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4FF56425-C0B4-9C4D-19E2-2C88C4EE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B809BBB9-2BC9-1D05-370E-0AF635451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52D327B9-1E52-FD75-7872-B686F91C36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C01FFE-2C77-06C7-FFC1-8B1AB0D382B9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7172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37">
            <a:extLst>
              <a:ext uri="{FF2B5EF4-FFF2-40B4-BE49-F238E27FC236}">
                <a16:creationId xmlns:a16="http://schemas.microsoft.com/office/drawing/2014/main" id="{A58941A3-BBD2-681F-C219-96B705C09A27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6" name="Freeform 320">
              <a:extLst>
                <a:ext uri="{FF2B5EF4-FFF2-40B4-BE49-F238E27FC236}">
                  <a16:creationId xmlns:a16="http://schemas.microsoft.com/office/drawing/2014/main" id="{3737EEC9-B6F8-CE18-9ACB-3E8913A36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321">
              <a:extLst>
                <a:ext uri="{FF2B5EF4-FFF2-40B4-BE49-F238E27FC236}">
                  <a16:creationId xmlns:a16="http://schemas.microsoft.com/office/drawing/2014/main" id="{3707C77A-B5D0-B351-51D2-7B13B760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4596B6EC-25E8-5C7D-27B0-E07E67E57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058C3B-72C5-0C42-8F6D-23D45E3F90DA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89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Grey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37">
            <a:extLst>
              <a:ext uri="{FF2B5EF4-FFF2-40B4-BE49-F238E27FC236}">
                <a16:creationId xmlns:a16="http://schemas.microsoft.com/office/drawing/2014/main" id="{694E8484-4114-FCEB-04B9-681F7E2907C1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1" name="Freeform 320">
              <a:extLst>
                <a:ext uri="{FF2B5EF4-FFF2-40B4-BE49-F238E27FC236}">
                  <a16:creationId xmlns:a16="http://schemas.microsoft.com/office/drawing/2014/main" id="{43039B4A-4414-24C8-02C0-871455BB0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21">
              <a:extLst>
                <a:ext uri="{FF2B5EF4-FFF2-40B4-BE49-F238E27FC236}">
                  <a16:creationId xmlns:a16="http://schemas.microsoft.com/office/drawing/2014/main" id="{AF8E0141-D71F-0F98-9C11-74617F211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3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C1AF1023-D543-CB13-3E71-3976435F64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06906-AE4A-6B1B-826F-6F5295199824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9813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2"/>
            <a:extLst>
              <a:ext uri="{FF2B5EF4-FFF2-40B4-BE49-F238E27FC236}">
                <a16:creationId xmlns:a16="http://schemas.microsoft.com/office/drawing/2014/main" id="{941A3941-C755-6656-4029-D0028A53BB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4"/>
            <a:extLst>
              <a:ext uri="{FF2B5EF4-FFF2-40B4-BE49-F238E27FC236}">
                <a16:creationId xmlns:a16="http://schemas.microsoft.com/office/drawing/2014/main" id="{3591224F-8FEC-9B5A-1F57-B601D9EC4C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6"/>
            <a:extLst>
              <a:ext uri="{FF2B5EF4-FFF2-40B4-BE49-F238E27FC236}">
                <a16:creationId xmlns:a16="http://schemas.microsoft.com/office/drawing/2014/main" id="{C96036E5-31FB-13BE-950F-986997980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8"/>
            <a:extLst>
              <a:ext uri="{FF2B5EF4-FFF2-40B4-BE49-F238E27FC236}">
                <a16:creationId xmlns:a16="http://schemas.microsoft.com/office/drawing/2014/main" id="{C895DE98-7E11-9ACD-964C-CB06CEB75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BBF08B-D059-4998-4ED3-95035CA33654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10" name="Image 9" descr="Une image contenant noir, Graphique, art&#10;&#10;Description générée automatiquement">
            <a:extLst>
              <a:ext uri="{FF2B5EF4-FFF2-40B4-BE49-F238E27FC236}">
                <a16:creationId xmlns:a16="http://schemas.microsoft.com/office/drawing/2014/main" id="{DE62D67C-765C-84EB-F850-6A1F3B6BE8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7928" y="836712"/>
            <a:ext cx="7729744" cy="64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6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hlinkClick r:id="rId2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6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8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4">
            <a:extLst>
              <a:ext uri="{FF2B5EF4-FFF2-40B4-BE49-F238E27FC236}">
                <a16:creationId xmlns:a16="http://schemas.microsoft.com/office/drawing/2014/main" id="{72F6479D-6EC4-876D-159E-45E9EFA775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52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00" y="0"/>
            <a:ext cx="5545800" cy="1105200"/>
          </a:xfrm>
        </p:spPr>
        <p:txBody>
          <a:bodyPr vert="horz" lIns="0" tIns="180000" rIns="0" bIns="0" rtlCol="0" anchor="t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114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8355"/>
            <a:ext cx="8212347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155"/>
            <a:ext cx="821234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6150340" y="-363866"/>
            <a:ext cx="6041660" cy="37920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753" y="5225807"/>
            <a:ext cx="1795387" cy="1124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C472-9823-4B6F-B744-AD8B59D6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8957-1E96-4B42-9F70-5626F9EF8235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E569C-7D43-4BCA-91FE-AE71E0B7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BA5E-47C6-4D9A-A40D-9C746CE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67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1979"/>
            <a:ext cx="5181600" cy="468622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7219"/>
            <a:ext cx="5181600" cy="469098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7968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8334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7794" y="157945"/>
            <a:ext cx="816006" cy="4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5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10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05333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434" y="6333972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5FBE39-4618-133A-F4CE-F03E4E5437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7794" y="157945"/>
            <a:ext cx="816006" cy="4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33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2401" y="6114572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91082"/>
            <a:ext cx="10515600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860" y="6305348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7E6729-6950-FFA0-B4DF-5B05FF74D6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4841" y="172658"/>
            <a:ext cx="728958" cy="4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2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52F0-64C1-417E-AC4E-E6A5CC54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BCA14-E6F4-4926-8D9E-A595DA2A74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080000"/>
            <a:ext cx="11484000" cy="540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0B42B0EA-0B33-B17C-4B5B-C05D64D4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A1AC7025-E4DA-4827-A395-BB81FC45004F}" type="datetime1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376E659-5620-68EE-064C-3736DE0E3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885FE03-2573-B969-C241-BD1D865ED1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8324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8355"/>
            <a:ext cx="8212347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155"/>
            <a:ext cx="821234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6150340" y="-363866"/>
            <a:ext cx="6041660" cy="37920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753" y="5225807"/>
            <a:ext cx="1795387" cy="1124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C472-9823-4B6F-B744-AD8B59D6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8957-1E96-4B42-9F70-5626F9EF8235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E569C-7D43-4BCA-91FE-AE71E0B7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BA5E-47C6-4D9A-A40D-9C746CE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5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91082"/>
            <a:ext cx="10515600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860" y="6305348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1368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8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8308"/>
            <a:ext cx="5939971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3733" y="6381009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8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213600" y="1298308"/>
            <a:ext cx="4978400" cy="55596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0769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008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1979"/>
            <a:ext cx="5181600" cy="468622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7219"/>
            <a:ext cx="5181600" cy="469098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7968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8334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0769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65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236663"/>
            <a:ext cx="5157787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05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6663"/>
            <a:ext cx="5183188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05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222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6151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1369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097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05333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434" y="6333972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1368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519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6150340" y="-363041"/>
            <a:ext cx="6041660" cy="37920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8355"/>
            <a:ext cx="8212347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155"/>
            <a:ext cx="821234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753" y="5225807"/>
            <a:ext cx="1795387" cy="1124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C472-9823-4B6F-B744-AD8B59D6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442CD5A7-EAC8-4F6A-9F1C-25796EE6A51F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E569C-7D43-4BCA-91FE-AE71E0B7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BA5E-47C6-4D9A-A40D-9C746CE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3693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91082"/>
            <a:ext cx="10515600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DF5143-328F-2407-D212-E2E2C94E0D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861681EB-4EEA-0DD9-A9AA-F51367AC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C4A28292-0F41-4DB6-95FA-93B13D47FA44}" type="datetime1">
              <a:rPr lang="en-AU" smtClean="0"/>
              <a:t>23/06/2026</a:t>
            </a:fld>
            <a:endParaRPr lang="en-AU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555AABA-396D-717D-7822-C6E2F97C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BAEC792E-4C3B-D623-32B7-A9D953F6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8308"/>
            <a:ext cx="5939971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3733" y="6473083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8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213600" y="1298308"/>
            <a:ext cx="4978400" cy="55596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91CF6ED-524D-20AF-9906-C5C3C380E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281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1979"/>
            <a:ext cx="5181600" cy="468622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7219"/>
            <a:ext cx="5181600" cy="469098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7968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ACCB7-CE64-94D0-5193-5E8E57DEFE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B31CE4C7-04C8-4503-BC6F-7E81F48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04535D88-AD5C-45EC-8829-7536BA26B127}" type="datetime1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77176C3-42C2-A9A7-F18A-2FA7E399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46DA49E-E9C0-2FD0-E343-9564D77C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396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236663"/>
            <a:ext cx="5157787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05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6663"/>
            <a:ext cx="5183188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05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222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9448800" y="65016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B406CB-DD57-7391-3961-AE0CB2A357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B6E56-478A-967B-9D5A-C60FD99E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B62AC7E9-DDD5-4365-95F5-4179C86E81AE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22A95-D90F-C336-4FD7-B7A7CA11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</p:spTree>
    <p:extLst>
      <p:ext uri="{BB962C8B-B14F-4D97-AF65-F5344CB8AC3E}">
        <p14:creationId xmlns:p14="http://schemas.microsoft.com/office/powerpoint/2010/main" val="3331452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10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05333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92900-E083-25FA-EED9-61EE81E796F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E0CE1B60-060F-1964-A7BC-64932375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1F02CC2D-7962-4495-9822-4FE6ED7D82D1}" type="datetime1">
              <a:rPr lang="en-AU" smtClean="0"/>
              <a:t>23/06/2026</a:t>
            </a:fld>
            <a:endParaRPr lang="en-AU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EA25DEA-624F-DA6F-6EE8-07AF7A6C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D7A164BD-7C87-A8C1-08F4-937B5090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846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2D05AE9A-CC9D-53E2-4E75-65677AA95C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3C2317-2F98-F10B-914A-ECEF23BE80C5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428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447201"/>
            <a:ext cx="11379201" cy="5022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B3375DC9-0BA6-A240-667B-5E2303B752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704" y="334515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3384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6611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rgbClr val="00206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384DAB34-FF4F-8067-2C52-2AE79B40D2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654" y="329025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4481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Content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462" y="1330085"/>
            <a:ext cx="11369042" cy="31393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rgbClr val="002060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C1AF1023-D543-CB13-3E71-3976435F64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279" y="3004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06906-AE4A-6B1B-826F-6F5295199824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3575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Dark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496" y="1376756"/>
            <a:ext cx="11369042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rgbClr val="002060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8AB641B9-243B-DB53-55F8-F314D27563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804" y="339725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094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2"/>
            <a:extLst>
              <a:ext uri="{FF2B5EF4-FFF2-40B4-BE49-F238E27FC236}">
                <a16:creationId xmlns:a16="http://schemas.microsoft.com/office/drawing/2014/main" id="{941A3941-C755-6656-4029-D0028A53BB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4"/>
            <a:extLst>
              <a:ext uri="{FF2B5EF4-FFF2-40B4-BE49-F238E27FC236}">
                <a16:creationId xmlns:a16="http://schemas.microsoft.com/office/drawing/2014/main" id="{3591224F-8FEC-9B5A-1F57-B601D9EC4C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6"/>
            <a:extLst>
              <a:ext uri="{FF2B5EF4-FFF2-40B4-BE49-F238E27FC236}">
                <a16:creationId xmlns:a16="http://schemas.microsoft.com/office/drawing/2014/main" id="{C96036E5-31FB-13BE-950F-986997980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8"/>
            <a:extLst>
              <a:ext uri="{FF2B5EF4-FFF2-40B4-BE49-F238E27FC236}">
                <a16:creationId xmlns:a16="http://schemas.microsoft.com/office/drawing/2014/main" id="{C895DE98-7E11-9ACD-964C-CB06CEB75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BBF08B-D059-4998-4ED3-95035CA33654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10" name="Image 9" descr="Une image contenant noir, Graphique, art&#10;&#10;Description générée automatiquement">
            <a:extLst>
              <a:ext uri="{FF2B5EF4-FFF2-40B4-BE49-F238E27FC236}">
                <a16:creationId xmlns:a16="http://schemas.microsoft.com/office/drawing/2014/main" id="{DE62D67C-765C-84EB-F850-6A1F3B6BE8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7928" y="836712"/>
            <a:ext cx="7729744" cy="64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2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52F0-64C1-417E-AC4E-E6A5CC54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3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BCA14-E6F4-4926-8D9E-A595DA2A74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080000"/>
            <a:ext cx="11484000" cy="540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0B42B0EA-0B33-B17C-4B5B-C05D64D4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A1AC7025-E4DA-4827-A395-BB81FC45004F}" type="datetime1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376E659-5620-68EE-064C-3736DE0E3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885FE03-2573-B969-C241-BD1D865ED1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8338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751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993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7.emf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oleObject" Target="../embeddings/oleObject2.bin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3802" cy="488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3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87" r:id="rId4"/>
    <p:sldLayoutId id="2147484158" r:id="rId5"/>
    <p:sldLayoutId id="2147484165" r:id="rId6"/>
    <p:sldLayoutId id="2147484119" r:id="rId7"/>
    <p:sldLayoutId id="2147484226" r:id="rId8"/>
    <p:sldLayoutId id="2147484169" r:id="rId9"/>
    <p:sldLayoutId id="2147484179" r:id="rId10"/>
    <p:sldLayoutId id="2147484180" r:id="rId11"/>
    <p:sldLayoutId id="2147484181" r:id="rId12"/>
    <p:sldLayoutId id="2147484194" r:id="rId13"/>
    <p:sldLayoutId id="2147484159" r:id="rId14"/>
    <p:sldLayoutId id="2147484124" r:id="rId15"/>
    <p:sldLayoutId id="2147484225" r:id="rId16"/>
    <p:sldLayoutId id="2147484229" r:id="rId17"/>
    <p:sldLayoutId id="2147484125" r:id="rId18"/>
    <p:sldLayoutId id="2147484219" r:id="rId19"/>
    <p:sldLayoutId id="2147484143" r:id="rId20"/>
    <p:sldLayoutId id="2147484145" r:id="rId21"/>
    <p:sldLayoutId id="2147484197" r:id="rId22"/>
    <p:sldLayoutId id="2147484217" r:id="rId23"/>
    <p:sldLayoutId id="2147484156" r:id="rId24"/>
    <p:sldLayoutId id="2147484230" r:id="rId25"/>
    <p:sldLayoutId id="2147484231" r:id="rId26"/>
    <p:sldLayoutId id="2147484232" r:id="rId27"/>
    <p:sldLayoutId id="2147484233" r:id="rId28"/>
    <p:sldLayoutId id="2147484234" r:id="rId29"/>
    <p:sldLayoutId id="2147484327" r:id="rId30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  <p15:guide id="20" pos="257" userDrawn="1">
          <p15:clr>
            <a:srgbClr val="F26B43"/>
          </p15:clr>
        </p15:guide>
        <p15:guide id="21" pos="3840">
          <p15:clr>
            <a:srgbClr val="F26B43"/>
          </p15:clr>
        </p15:guide>
        <p15:guide id="22" pos="7423" userDrawn="1">
          <p15:clr>
            <a:srgbClr val="F26B43"/>
          </p15:clr>
        </p15:guide>
        <p15:guide id="23" orient="horz" pos="255" userDrawn="1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 userDrawn="1">
          <p15:clr>
            <a:srgbClr val="F26B43"/>
          </p15:clr>
        </p15:guide>
        <p15:guide id="27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01BAF68E-DE5E-4A19-8F69-DFB7DF0BF4A1}" type="datetime1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2"/>
                </a:solidFill>
                <a:latin typeface="Gadugi" panose="020B0502040204020203" pitchFamily="34" charset="0"/>
              </a:defRPr>
            </a:lvl1pPr>
          </a:lstStyle>
          <a:p>
            <a:r>
              <a:rPr lang="en-AU"/>
              <a:t>Advanced Personnel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FF1B0BAD-7B51-4F06-A725-E468204BACE1}"/>
              </a:ext>
            </a:extLst>
          </p:cNvPr>
          <p:cNvGrpSpPr/>
          <p:nvPr userDrawn="1"/>
        </p:nvGrpSpPr>
        <p:grpSpPr>
          <a:xfrm>
            <a:off x="11593776" y="260679"/>
            <a:ext cx="419436" cy="388988"/>
            <a:chOff x="11501102" y="171573"/>
            <a:chExt cx="419436" cy="388988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A39EFE5-A5C2-D9B0-A027-88EAE873A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8F67BAA-BA02-4A72-C5C8-63CEFD2C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1098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4" r:id="rId1"/>
    <p:sldLayoutId id="2147484305" r:id="rId2"/>
    <p:sldLayoutId id="2147484306" r:id="rId3"/>
    <p:sldLayoutId id="2147484307" r:id="rId4"/>
    <p:sldLayoutId id="2147484308" r:id="rId5"/>
    <p:sldLayoutId id="2147484309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2"/>
          </a:solidFill>
          <a:latin typeface="Gadug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191AADB-6590-347E-5D51-0A629B2AF1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163767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59" imgH="360" progId="TCLayout.ActiveDocument.1">
                  <p:embed/>
                </p:oleObj>
              </mc:Choice>
              <mc:Fallback>
                <p:oleObj name="think-cell Slide" r:id="rId19" imgW="359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91AADB-6590-347E-5D51-0A629B2AF1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465D4D90-C584-4DA6-8ACA-F97C48C0A512}" type="datetime1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2"/>
                </a:solidFill>
                <a:latin typeface="Gadugi" panose="020B0502040204020203" pitchFamily="34" charset="0"/>
              </a:defRPr>
            </a:lvl1pPr>
          </a:lstStyle>
          <a:p>
            <a:r>
              <a:rPr lang="en-AU"/>
              <a:t>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FF1B0BAD-7B51-4F06-A725-E468204BACE1}"/>
              </a:ext>
            </a:extLst>
          </p:cNvPr>
          <p:cNvGrpSpPr/>
          <p:nvPr userDrawn="1"/>
        </p:nvGrpSpPr>
        <p:grpSpPr>
          <a:xfrm>
            <a:off x="11593776" y="260679"/>
            <a:ext cx="419436" cy="388988"/>
            <a:chOff x="11501102" y="171573"/>
            <a:chExt cx="419436" cy="388988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A39EFE5-A5C2-D9B0-A027-88EAE873A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8F67BAA-BA02-4A72-C5C8-63CEFD2C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6767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3" r:id="rId3"/>
    <p:sldLayoutId id="2147484314" r:id="rId4"/>
    <p:sldLayoutId id="2147484315" r:id="rId5"/>
    <p:sldLayoutId id="2147484316" r:id="rId6"/>
    <p:sldLayoutId id="2147484317" r:id="rId7"/>
    <p:sldLayoutId id="2147484318" r:id="rId8"/>
    <p:sldLayoutId id="2147484319" r:id="rId9"/>
    <p:sldLayoutId id="2147484320" r:id="rId10"/>
    <p:sldLayoutId id="2147484321" r:id="rId11"/>
    <p:sldLayoutId id="2147484322" r:id="rId12"/>
    <p:sldLayoutId id="2147484323" r:id="rId13"/>
    <p:sldLayoutId id="2147484324" r:id="rId14"/>
    <p:sldLayoutId id="2147484325" r:id="rId15"/>
    <p:sldLayoutId id="214748432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2"/>
          </a:solidFill>
          <a:latin typeface="Gadug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Intune Windows 11 Device compliance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26500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Compliance settings from ASD guidance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AE918-649E-4518-B03A-D57E4780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747724"/>
              </p:ext>
            </p:extLst>
          </p:nvPr>
        </p:nvGraphicFramePr>
        <p:xfrm>
          <a:off x="312738" y="1482215"/>
          <a:ext cx="11488284" cy="5576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428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1530476705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2459700493"/>
                    </a:ext>
                  </a:extLst>
                </a:gridCol>
              </a:tblGrid>
              <a:tr h="672657"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Not required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Low risk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Medium/High risk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500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Five (5) settings related to Windows Phone that can be configured but will have no impact for Win 11 devices: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Simple passwords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Password type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Password expiration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Number of previous passwords to prevent re-use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Minimum OS version for mobile devices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500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One (1) setting that should have no implementation impact: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Require a password to unlock mobile devices</a:t>
                      </a:r>
                    </a:p>
                    <a:p>
                      <a:pPr marL="0" indent="0" algn="ctr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1500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Four (4) settings that will require investigation before implementing to minimise potential impact: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Minimum OS version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Microsoft Defender Antimalware minimum version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300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Require encryption of data storage on device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1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28825"/>
                  </a:ext>
                </a:extLst>
              </a:tr>
              <a:tr h="524187"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7070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5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19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D358-B575-1D62-3D79-225AE4EB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02D23D08-9C7A-BE0C-E901-23D8BD2B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8" r="7068"/>
          <a:stretch/>
        </p:blipFill>
        <p:spPr>
          <a:xfrm>
            <a:off x="0" y="1916832"/>
            <a:ext cx="7032104" cy="49411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C8DA9C-FFF1-EEE3-5A80-B0E5222D54D4}"/>
              </a:ext>
            </a:extLst>
          </p:cNvPr>
          <p:cNvSpPr/>
          <p:nvPr/>
        </p:nvSpPr>
        <p:spPr>
          <a:xfrm>
            <a:off x="5573486" y="1698171"/>
            <a:ext cx="2133600" cy="35850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40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3D179C-CEBA-C196-D9B1-4C17F9D40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3486" y="2208740"/>
            <a:ext cx="6328228" cy="3293121"/>
          </a:xfrm>
          <a:noFill/>
        </p:spPr>
        <p:txBody>
          <a:bodyPr lIns="0">
            <a:noAutofit/>
          </a:bodyPr>
          <a:lstStyle/>
          <a:p>
            <a:pPr marL="363538"/>
            <a:r>
              <a:rPr lang="en-AU" sz="3200">
                <a:latin typeface="Gadugi" panose="020B0502040204020203" pitchFamily="34" charset="0"/>
                <a:ea typeface="Gadugi" panose="020B0502040204020203" pitchFamily="34" charset="0"/>
              </a:rPr>
              <a:t>Security Control</a:t>
            </a:r>
            <a:br>
              <a:rPr lang="en-AU" sz="3200" b="1">
                <a:latin typeface="Gadugi" panose="020B0502040204020203" pitchFamily="34" charset="0"/>
                <a:ea typeface="Gadugi" panose="020B0502040204020203" pitchFamily="34" charset="0"/>
              </a:rPr>
            </a:br>
            <a:r>
              <a:rPr lang="en-AU" sz="3200" b="1">
                <a:latin typeface="Gadugi" panose="020B0502040204020203" pitchFamily="34" charset="0"/>
                <a:ea typeface="Gadugi" panose="020B0502040204020203" pitchFamily="34" charset="0"/>
              </a:rPr>
              <a:t>Implementation summary</a:t>
            </a:r>
            <a:br>
              <a:rPr lang="en-AU" sz="3200" b="1">
                <a:latin typeface="Gadugi" panose="020B0502040204020203" pitchFamily="34" charset="0"/>
                <a:ea typeface="Gadugi" panose="020B0502040204020203" pitchFamily="34" charset="0"/>
              </a:rPr>
            </a:br>
            <a:endParaRPr lang="en-US" b="1">
              <a:latin typeface="Gadugi"/>
              <a:ea typeface="Gadugi"/>
            </a:endParaRPr>
          </a:p>
        </p:txBody>
      </p:sp>
    </p:spTree>
    <p:extLst>
      <p:ext uri="{BB962C8B-B14F-4D97-AF65-F5344CB8AC3E}">
        <p14:creationId xmlns:p14="http://schemas.microsoft.com/office/powerpoint/2010/main" val="3193860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F1F1F-2E59-FB4C-D3B1-4AA0466E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C436B6C-730A-B16A-425E-08BC057F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361D8D-F4DF-B6C7-EDDB-200754BD2523}"/>
              </a:ext>
            </a:extLst>
          </p:cNvPr>
          <p:cNvSpPr txBox="1"/>
          <p:nvPr/>
        </p:nvSpPr>
        <p:spPr>
          <a:xfrm>
            <a:off x="312738" y="826500"/>
            <a:ext cx="5783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Review approach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1D9A32-96A2-4050-D1E5-EDC697725240}"/>
              </a:ext>
            </a:extLst>
          </p:cNvPr>
          <p:cNvSpPr txBox="1"/>
          <p:nvPr/>
        </p:nvSpPr>
        <p:spPr>
          <a:xfrm>
            <a:off x="334964" y="1736604"/>
            <a:ext cx="3738682" cy="408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buNone/>
            </a:pPr>
            <a:r>
              <a:rPr lang="en-AU" sz="2000" b="1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Hardening guidance: </a:t>
            </a:r>
            <a:endParaRPr lang="en-AU" sz="2000">
              <a:solidFill>
                <a:schemeClr val="accent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F2DFE-664C-900B-DF8F-B310240A1444}"/>
              </a:ext>
            </a:extLst>
          </p:cNvPr>
          <p:cNvSpPr txBox="1"/>
          <p:nvPr/>
        </p:nvSpPr>
        <p:spPr>
          <a:xfrm>
            <a:off x="4095870" y="1736604"/>
            <a:ext cx="7725334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PT"/>
            </a:defPPr>
            <a:lvl1pPr marL="342900" indent="-342900">
              <a:lnSpc>
                <a:spcPct val="112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marL="0" indent="0">
              <a:buNone/>
            </a:pPr>
            <a:r>
              <a:rPr lang="en-AU"/>
              <a:t>Taken from Australian Signals Directorate (ASD) and Microsoft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/>
              <a:t>ASD Windows Hardening Guidelines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/>
              <a:t>ASD Blueprint for Secure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/>
              <a:t>ASD Hardening Microsoft 365, Office 2016/2019/2021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/>
              <a:t>ASD Restricting Microsoft Office macros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/>
              <a:t>Windows MDM security baseline settings reference for Microsoft Intune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/>
              <a:t>Windows 24H2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/>
              <a:t>Microsoft Office (Dec-25) </a:t>
            </a:r>
            <a:r>
              <a:rPr lang="en-AU" sz="1200" i="1"/>
              <a:t>Note: Dec-24 benchmark not available for reference.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6EBC4-A258-316F-AB0D-2D78C2F96FA8}"/>
              </a:ext>
            </a:extLst>
          </p:cNvPr>
          <p:cNvSpPr txBox="1"/>
          <p:nvPr/>
        </p:nvSpPr>
        <p:spPr>
          <a:xfrm>
            <a:off x="334964" y="5015245"/>
            <a:ext cx="3159806" cy="408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buNone/>
            </a:pPr>
            <a:r>
              <a:rPr lang="en-AU" sz="2000" b="1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Approach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073C7-1803-AC1F-90AC-8FF4AA44959F}"/>
              </a:ext>
            </a:extLst>
          </p:cNvPr>
          <p:cNvSpPr txBox="1"/>
          <p:nvPr/>
        </p:nvSpPr>
        <p:spPr>
          <a:xfrm>
            <a:off x="4095870" y="5015245"/>
            <a:ext cx="7725334" cy="753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lang="en-AU" sz="2000">
                <a:latin typeface="Gadugi" panose="020B0502040204020203" pitchFamily="34" charset="0"/>
                <a:ea typeface="Gadugi" panose="020B0502040204020203" pitchFamily="34" charset="0"/>
              </a:rPr>
              <a:t>Validate 700+ recommended settings in Microsoft/ASD guidance are applied to APM devices via policy or default settings.</a:t>
            </a:r>
          </a:p>
        </p:txBody>
      </p:sp>
    </p:spTree>
    <p:extLst>
      <p:ext uri="{BB962C8B-B14F-4D97-AF65-F5344CB8AC3E}">
        <p14:creationId xmlns:p14="http://schemas.microsoft.com/office/powerpoint/2010/main" val="133033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F1F1F-2E59-FB4C-D3B1-4AA0466E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C436B6C-730A-B16A-425E-08BC057F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361D8D-F4DF-B6C7-EDDB-200754BD2523}"/>
              </a:ext>
            </a:extLst>
          </p:cNvPr>
          <p:cNvSpPr txBox="1"/>
          <p:nvPr/>
        </p:nvSpPr>
        <p:spPr>
          <a:xfrm>
            <a:off x="312738" y="826500"/>
            <a:ext cx="11463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High level compliance summary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77FF049-5663-4565-67BF-7E7F22736E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9825203"/>
              </p:ext>
            </p:extLst>
          </p:nvPr>
        </p:nvGraphicFramePr>
        <p:xfrm>
          <a:off x="334963" y="1450109"/>
          <a:ext cx="5437764" cy="4383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3AF43CD-4487-649E-AA82-5990E33C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9566764"/>
              </p:ext>
            </p:extLst>
          </p:nvPr>
        </p:nvGraphicFramePr>
        <p:xfrm>
          <a:off x="6338600" y="1475264"/>
          <a:ext cx="5437764" cy="4383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2036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26500"/>
            <a:ext cx="7525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Non-compliance breakdown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12CF301-55AB-E049-A477-35E297AD6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2777080"/>
              </p:ext>
            </p:extLst>
          </p:nvPr>
        </p:nvGraphicFramePr>
        <p:xfrm>
          <a:off x="334963" y="1450109"/>
          <a:ext cx="5437764" cy="4383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409EDD5-C848-40FD-A8F6-8DDB3B8666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629709"/>
              </p:ext>
            </p:extLst>
          </p:nvPr>
        </p:nvGraphicFramePr>
        <p:xfrm>
          <a:off x="6096000" y="1450109"/>
          <a:ext cx="5437764" cy="4383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2389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26500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Windows 11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AE918-649E-4518-B03A-D57E4780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24437"/>
              </p:ext>
            </p:extLst>
          </p:nvPr>
        </p:nvGraphicFramePr>
        <p:xfrm>
          <a:off x="312738" y="1482215"/>
          <a:ext cx="11488284" cy="4551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428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1530476705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2459700493"/>
                    </a:ext>
                  </a:extLst>
                </a:gridCol>
              </a:tblGrid>
              <a:tr h="672657"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Intune compliance policy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Microsoft Store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Network connectivity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7 </a:t>
                      </a: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settings – impact on Conditional Access policy assessment required.</a:t>
                      </a:r>
                      <a:endParaRPr lang="en-AU" b="1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 algn="ctr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Microsoft Store is not disabled, could be in use within the environment.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 blocking Wi-Fi connections when already connected to a wired network.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1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28825"/>
                  </a:ext>
                </a:extLst>
              </a:tr>
              <a:tr h="524187">
                <a:tc>
                  <a:txBody>
                    <a:bodyPr/>
                    <a:lstStyle/>
                    <a:p>
                      <a:pPr algn="ctr"/>
                      <a:r>
                        <a:rPr lang="en-AU" sz="2000" b="1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Location sharing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BitLocker PIN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UAC Elevation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7070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Location sharing enabled (user cannot change)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BitLocker boot pin is not required on start-up; ASD guidance is to </a:t>
                      </a: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allow</a:t>
                      </a: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 (not require) PIN use.</a:t>
                      </a: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 automatically denying elevation requests.</a:t>
                      </a: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5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67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26500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Microsoft Office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AE918-649E-4518-B03A-D57E4780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306294"/>
              </p:ext>
            </p:extLst>
          </p:nvPr>
        </p:nvGraphicFramePr>
        <p:xfrm>
          <a:off x="357188" y="2287855"/>
          <a:ext cx="11488284" cy="4242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428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1530476705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2459700493"/>
                    </a:ext>
                  </a:extLst>
                </a:gridCol>
              </a:tblGrid>
              <a:tr h="594483"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Implementation status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Excel data connections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Application add-ins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1685627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Hardening policy has been held back due to widespread Office 97-2003 file format use.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recommends blocking external data connections.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Vulnerable (legacy) connections are not allowed.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recommends disabling application add-ins for MS Office.</a:t>
                      </a: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28825"/>
                  </a:ext>
                </a:extLst>
              </a:tr>
              <a:tr h="463268"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7070"/>
                  </a:ext>
                </a:extLst>
              </a:tr>
              <a:tr h="12772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5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84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26500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Microsoft Edge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AE918-649E-4518-B03A-D57E4780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955418"/>
              </p:ext>
            </p:extLst>
          </p:nvPr>
        </p:nvGraphicFramePr>
        <p:xfrm>
          <a:off x="268287" y="2285779"/>
          <a:ext cx="11757456" cy="424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9152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3919152">
                  <a:extLst>
                    <a:ext uri="{9D8B030D-6E8A-4147-A177-3AD203B41FA5}">
                      <a16:colId xmlns:a16="http://schemas.microsoft.com/office/drawing/2014/main" val="1530476705"/>
                    </a:ext>
                  </a:extLst>
                </a:gridCol>
                <a:gridCol w="3919152">
                  <a:extLst>
                    <a:ext uri="{9D8B030D-6E8A-4147-A177-3AD203B41FA5}">
                      <a16:colId xmlns:a16="http://schemas.microsoft.com/office/drawing/2014/main" val="2459700493"/>
                    </a:ext>
                  </a:extLst>
                </a:gridCol>
              </a:tblGrid>
              <a:tr h="672657"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Edge extensions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Download restrictions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Microsoft recommendations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recommends blocking all Edge extensions – only </a:t>
                      </a:r>
                      <a:r>
                        <a:rPr lang="en-AU" b="0" i="1" err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uBlock</a:t>
                      </a:r>
                      <a:r>
                        <a:rPr lang="en-AU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 Origin </a:t>
                      </a: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and </a:t>
                      </a:r>
                      <a:r>
                        <a:rPr lang="en-AU" b="0" i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Dark Reader </a:t>
                      </a: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are allowed.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 stricter control than block malicious downloads.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Other various low risk settings recommended by Microsoft (e.g. Supressing IE mode button)</a:t>
                      </a:r>
                      <a:endParaRPr lang="en-AU" b="1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28825"/>
                  </a:ext>
                </a:extLst>
              </a:tr>
              <a:tr h="524187"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7070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5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05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AU" sz="2800" b="1">
                <a:latin typeface="Gadugi" panose="020B0502040204020203" pitchFamily="34" charset="0"/>
                <a:ea typeface="Gadugi" panose="020B0502040204020203" pitchFamily="34" charset="0"/>
              </a:rPr>
              <a:t>Security Control Implementation summary</a:t>
            </a:r>
            <a:endParaRPr lang="en-US" sz="2800"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72103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Application Control for Business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AE918-649E-4518-B03A-D57E4780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071915"/>
              </p:ext>
            </p:extLst>
          </p:nvPr>
        </p:nvGraphicFramePr>
        <p:xfrm>
          <a:off x="2063161" y="2245108"/>
          <a:ext cx="11488284" cy="4549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428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1530476705"/>
                    </a:ext>
                  </a:extLst>
                </a:gridCol>
                <a:gridCol w="3829428">
                  <a:extLst>
                    <a:ext uri="{9D8B030D-6E8A-4147-A177-3AD203B41FA5}">
                      <a16:colId xmlns:a16="http://schemas.microsoft.com/office/drawing/2014/main" val="2459700493"/>
                    </a:ext>
                  </a:extLst>
                </a:gridCol>
              </a:tblGrid>
              <a:tr h="672657"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Workstation enforcement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Additional server profiles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Scheduled for implementation through April and May 2026.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b="1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High implementation risk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b="0" i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ASD recommend implementation on other core servers beyond domain controllers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1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28825"/>
                  </a:ext>
                </a:extLst>
              </a:tr>
              <a:tr h="524187"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b="1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7070"/>
                  </a:ext>
                </a:extLst>
              </a:tr>
              <a:tr h="1445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b="0" i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5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6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F95A-39FA-F3EE-7572-35DE0F5A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3B53C321-8C77-445C-E0EB-CD2F753C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8" r="7068"/>
          <a:stretch/>
        </p:blipFill>
        <p:spPr>
          <a:xfrm>
            <a:off x="0" y="1916832"/>
            <a:ext cx="7032104" cy="49411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1688EE-D50E-5686-AD11-58D9BFA9B098}"/>
              </a:ext>
            </a:extLst>
          </p:cNvPr>
          <p:cNvSpPr/>
          <p:nvPr/>
        </p:nvSpPr>
        <p:spPr>
          <a:xfrm>
            <a:off x="5573486" y="1698171"/>
            <a:ext cx="2133600" cy="35850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40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D31433-39E7-DE6D-0811-32354ED34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3494" y="1916831"/>
            <a:ext cx="3509555" cy="3293121"/>
          </a:xfrm>
          <a:noFill/>
        </p:spPr>
        <p:txBody>
          <a:bodyPr lIns="0" anchor="ctr">
            <a:noAutofit/>
          </a:bodyPr>
          <a:lstStyle/>
          <a:p>
            <a:r>
              <a:rPr lang="en-AU" sz="3200" b="1">
                <a:latin typeface="Gadugi"/>
                <a:ea typeface="Gadugi"/>
              </a:rPr>
              <a:t> Questions</a:t>
            </a:r>
            <a:endParaRPr lang="en-US" b="1">
              <a:latin typeface="Gadugi"/>
              <a:ea typeface="Gadugi"/>
            </a:endParaRPr>
          </a:p>
        </p:txBody>
      </p:sp>
    </p:spTree>
    <p:extLst>
      <p:ext uri="{BB962C8B-B14F-4D97-AF65-F5344CB8AC3E}">
        <p14:creationId xmlns:p14="http://schemas.microsoft.com/office/powerpoint/2010/main" val="23011499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AGENDAWIZARD" val="&lt;ee4p&gt;&lt;layouts&gt;&lt;layout name=&quot;Capgemini invent Line Grey&quot; id=&quot;435_2&quot;&gt;&lt;standard&gt;&lt;textframe horizontalAnchor=&quot;1&quot; marginBottom=&quot;0&quot; marginLeft=&quot;0&quot; marginRight=&quot;0&quot; marginTop=&quot;0&quot; orientation=&quot;1&quot; verticalAnchor=&quot;1&quot; /&gt;&lt;font name=&quot;Ubuntu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shadow visible=&quot;0&quot; /&gt;&lt;/standard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84.31764&quot; top=&quot;128.4218&quot; width=&quot;611.1824&quot; height=&quot;379.8731&quot; /&gt;&lt;settings allowedSizingModeIds=&quot;1|2&quot; allowedFontSizes=&quot;8|9|10|10.5|11|12|14|16|18&quot; allowedTimeFormatIds=&quot;1|2|3&quot; slideLayout=&quot;11&quot; customLayoutName=&quot;1_Agenda&quot; customLayoutNameBackup=&quot;1_Agenda&quot; customLayoutIndex=&quot;&quot; showBreak=&quot;1&quot; singleAgendaSlideSelected=&quot;0&quot; backupSlideTitle=&quot;Backup: %agendaName%&quot; topMargin=&quot;0&quot; leftMargin=&quot;0&quot; allowedLevels=&quot;4&quot; itemNoFormats=&quot;{1:2}¦{1:2}.{2}¦{3:alphaLC}¦{3:alphaLC}.{4:alphaLC}&quot; /&gt;&lt;!-- Agenda item formats --&gt;&lt;cases&gt;&lt;case level=&quot;1&quot; selected=&quot;0&quot; break=&quot;0&quot; topMinSpacing=&quot;15&quot; topMaxSpacing=&quot;15&quot; bottomMinSpacing=&quot;0&quot; bottomMaxSpacing=&quot;0&quot;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0&quot; break=&quot;0&quot; topMinSpacing=&quot;15&quot; topMaxSpacing=&quot;15&quot; bottomMinSpacing=&quot;0&quot; bottomMaxSpacing=&quot;0&quot;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15&quot; topMaxSpacing=&quot;15&quot; bottomMinSpacing=&quot;0&quot; bottomMaxSpacing=&quot;0&quot;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   &lt;element type=&quot;picture&quot; picture=&quot;image.png&quot; value=&quot;asdf&quot;  &gt;&#10;          &lt;position left=&quot;-278.9405&quot; top=&quot;-142.375&quot; width=&quot;457.6407&quot; height=&quot;540.0002&quot;/&gt;        &#10;        &lt;/element&gt;&#10;&#10;        &lt;element type=&quot;picture&quot; picture=&quot;BG_blue.png&quot; value=&quot;asdf&quot;  &gt;&#10;          &lt;position left=&quot;-278.9405&quot; top=&quot;-142.375&quot; width=&quot;960&quot; height=&quot;540&quot;/&gt;        &#10;        &lt;/element&gt; --&gt;&lt;/elements&gt;&lt;/layout&gt;&lt;/layouts&gt;&lt;contents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layoutId=&quot;435_2&quot; hideSeparatingSlides=&quot;0&quot; createSections=&quot;0&quot; singleSlideId=&quot;4a985bb3-9c0f-4d30-bab0-e861f6c1f7d9&quot; backupSlideId=&quot;59f12b8f-bcfa-4c72-806d-af721da5741a&quot;&gt;&lt;columns leftSpacing=&quot;0&quot; rightSpacing=&quot;0&quot;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rightSpacing=&quot;114.0997&quot; /&gt;&lt;column field=&quot;responsible&quot; label=&quot;Responsible&quot; visible=&quot;1&quot; checked=&quot;1&quot; leftSpacing=&quot;10&quot; rightDistribute=&quot;1&quot; dock=&quot;1&quot; rightSpacing=&quot;114.0997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30ff3b2-059e-47be-bfce-20f89c801ddd&quot; parentId=&quot;&quot; level=&quot;1&quot; generateAgendaSlide=&quot;1&quot; showAgendaItem=&quot;1&quot; isBreak=&quot;0&quot; topic=&quot;Part 1&quot; agendaSlideId=&quot;af0b860f-cd42-4a9e-9c99-a53635a9e083&quot; /&gt;&lt;item duration=&quot;30&quot; id=&quot;7f2c9adb-5359-438f-8174-f3799807dfb9&quot; parentId=&quot;&quot; level=&quot;1&quot; generateAgendaSlide=&quot;1&quot; showAgendaItem=&quot;1&quot; isBreak=&quot;0&quot; topic=&quot;Part 2&quot; agendaSlideId=&quot;07e6bc76-8a2b-48ad-97c4-1f85e540bbd5&quot; /&gt;&lt;item duration=&quot;30&quot; id=&quot;00ba97b5-5509-49fc-95b8-9afe1f8e54cf&quot; parentId=&quot;&quot; level=&quot;1&quot; generateAgendaSlide=&quot;1&quot; showAgendaItem=&quot;1&quot; isBreak=&quot;0&quot; topic=&quot;Part 3&quot; agendaSlideId=&quot;4d6dfe7c-00a3-4d20-aa7f-6447da594e0a&quot; /&gt;&lt;item duration=&quot;30&quot; id=&quot;d6c20a75-a816-4fd9-9cac-9e1eb824eb5f&quot; parentId=&quot;&quot; level=&quot;1&quot; generateAgendaSlide=&quot;1&quot; showAgendaItem=&quot;1&quot; isBreak=&quot;0&quot; topic=&quot;Part 4&quot; agendaSlideId=&quot;d29762e6-a410-4070-9806-5d73acff4eaf&quot; /&gt;&lt;/items&gt;&lt;/agenda&gt;&lt;/contents&gt;&lt;/ee4p&gt;"/>
  <p:tag name="EE4P_STYLE_ID" val="3edb2f5e-e25b-4bbf-81ee-2b439644738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pgemini_2025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5-new.pptx" id="{1A5E21FD-F1C4-4602-B93C-205760177B2A}" vid="{524A17E9-0B99-43DD-868E-483190FF6BA1}"/>
    </a:ext>
  </a:extLst>
</a:theme>
</file>

<file path=ppt/theme/theme2.xml><?xml version="1.0" encoding="utf-8"?>
<a:theme xmlns:a="http://schemas.openxmlformats.org/drawingml/2006/main" name="1_Custom Design">
  <a:themeElements>
    <a:clrScheme name="NEW APM">
      <a:dk1>
        <a:srgbClr val="000000"/>
      </a:dk1>
      <a:lt1>
        <a:srgbClr val="FFFFFF"/>
      </a:lt1>
      <a:dk2>
        <a:srgbClr val="B3B2B1"/>
      </a:dk2>
      <a:lt2>
        <a:srgbClr val="F3F3F3"/>
      </a:lt2>
      <a:accent1>
        <a:srgbClr val="FF9E16"/>
      </a:accent1>
      <a:accent2>
        <a:srgbClr val="1F355E"/>
      </a:accent2>
      <a:accent3>
        <a:srgbClr val="EC008C"/>
      </a:accent3>
      <a:accent4>
        <a:srgbClr val="48B2E8"/>
      </a:accent4>
      <a:accent5>
        <a:srgbClr val="00A19B"/>
      </a:accent5>
      <a:accent6>
        <a:srgbClr val="A4D55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1DA7FF4-1E4A-455A-8B47-1B12E09F8B67}" vid="{B623D0CB-010A-4B97-82A4-B1EE930F3C30}"/>
    </a:ext>
  </a:extLst>
</a:theme>
</file>

<file path=ppt/theme/theme3.xml><?xml version="1.0" encoding="utf-8"?>
<a:theme xmlns:a="http://schemas.openxmlformats.org/drawingml/2006/main" name="Custom Design">
  <a:themeElements>
    <a:clrScheme name="NEW APM">
      <a:dk1>
        <a:srgbClr val="000000"/>
      </a:dk1>
      <a:lt1>
        <a:srgbClr val="FFFFFF"/>
      </a:lt1>
      <a:dk2>
        <a:srgbClr val="B3B2B1"/>
      </a:dk2>
      <a:lt2>
        <a:srgbClr val="F3F3F3"/>
      </a:lt2>
      <a:accent1>
        <a:srgbClr val="FF9E16"/>
      </a:accent1>
      <a:accent2>
        <a:srgbClr val="1F355E"/>
      </a:accent2>
      <a:accent3>
        <a:srgbClr val="EC008C"/>
      </a:accent3>
      <a:accent4>
        <a:srgbClr val="48B2E8"/>
      </a:accent4>
      <a:accent5>
        <a:srgbClr val="00A19B"/>
      </a:accent5>
      <a:accent6>
        <a:srgbClr val="A4D55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1DA7FF4-1E4A-455A-8B47-1B12E09F8B67}" vid="{B623D0CB-010A-4B97-82A4-B1EE930F3C30}"/>
    </a:ext>
  </a:extLst>
</a:theme>
</file>

<file path=ppt/theme/theme4.xml><?xml version="1.0" encoding="utf-8"?>
<a:theme xmlns:a="http://schemas.openxmlformats.org/drawingml/2006/main" name="Tema do Offic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D005C7-03E4-4069-A4FB-9A9D17E8A0A1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CA40961FE304997D4C0B01CAFC317" ma:contentTypeVersion="10" ma:contentTypeDescription="Create a new document." ma:contentTypeScope="" ma:versionID="c56d9316d0d2c0602d752e0ef7226ebc">
  <xsd:schema xmlns:xsd="http://www.w3.org/2001/XMLSchema" xmlns:xs="http://www.w3.org/2001/XMLSchema" xmlns:p="http://schemas.microsoft.com/office/2006/metadata/properties" xmlns:ns2="a9ff8542-962c-45bc-800a-69ace1b48c27" targetNamespace="http://schemas.microsoft.com/office/2006/metadata/properties" ma:root="true" ma:fieldsID="cd75952b4925099f1c5d991334ef2c98" ns2:_="">
    <xsd:import namespace="a9ff8542-962c-45bc-800a-69ace1b48c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ff8542-962c-45bc-800a-69ace1b48c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5f083af-7c31-4f90-9aa7-511dd389e1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ff8542-962c-45bc-800a-69ace1b48c2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719C7E8-B27F-41A9-88DA-186B849BF2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B66D82-4420-4D8B-83CA-E213007AB6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ff8542-962c-45bc-800a-69ace1b48c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4DB1C4-6317-4B8D-B83E-4DC44C18520C}">
  <ds:schemaRefs>
    <ds:schemaRef ds:uri="aa0a4a47-e40a-4a55-a16a-9b282f56d52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a9ff8542-962c-45bc-800a-69ace1b48c27"/>
  </ds:schemaRefs>
</ds:datastoreItem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Capgemini-template-master_2025</Template>
  <TotalTime>0</TotalTime>
  <Words>493</Words>
  <Application>Microsoft Office PowerPoint</Application>
  <PresentationFormat>Widescreen</PresentationFormat>
  <Paragraphs>95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Capgemini_2025</vt:lpstr>
      <vt:lpstr>1_Custom Design</vt:lpstr>
      <vt:lpstr>Custom Design</vt:lpstr>
      <vt:lpstr>Intune Windows 11 Device compliance</vt:lpstr>
      <vt:lpstr>Security Control Implementation summary </vt:lpstr>
      <vt:lpstr>Security Control Implementation summary</vt:lpstr>
      <vt:lpstr>Security Control Implementation summary</vt:lpstr>
      <vt:lpstr>Security Control Implementation summary</vt:lpstr>
      <vt:lpstr>Security Control Implementation summary</vt:lpstr>
      <vt:lpstr>Security Control Implementation summary</vt:lpstr>
      <vt:lpstr>Security Control Implementation summary</vt:lpstr>
      <vt:lpstr>Security Control Implementation summary</vt:lpstr>
      <vt:lpstr>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APM RFFR Client Kick Off</dc:title>
  <dc:subject>Template</dc:subject>
  <dc:creator>Goodman-Jones, Philip</dc:creator>
  <cp:lastModifiedBy>Silcock, Andrew</cp:lastModifiedBy>
  <cp:revision>2</cp:revision>
  <dcterms:created xsi:type="dcterms:W3CDTF">2025-03-21T01:40:07Z</dcterms:created>
  <dcterms:modified xsi:type="dcterms:W3CDTF">2026-06-24T00:43:23Z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0x0101002DBCA40961FE304997D4C0B01CAFC317</vt:lpwstr>
  </property>
  <property fmtid="{D5CDD505-2E9C-101B-9397-08002B2CF9AE}" pid="3" name="MediaServiceImageTags">
    <vt:lpwstr/>
  </property>
  <property fmtid="{D5CDD505-2E9C-101B-9397-08002B2CF9AE}" pid="4" name="MSIP_Label_7d0f9f1f-f22f-44fd-8844-410aa22a8c4a_Enabled">
    <vt:lpwstr>true</vt:lpwstr>
  </property>
  <property fmtid="{D5CDD505-2E9C-101B-9397-08002B2CF9AE}" pid="5" name="MSIP_Label_7d0f9f1f-f22f-44fd-8844-410aa22a8c4a_SetDate">
    <vt:lpwstr>2025-11-02T23:07:12Z</vt:lpwstr>
  </property>
  <property fmtid="{D5CDD505-2E9C-101B-9397-08002B2CF9AE}" pid="6" name="MSIP_Label_7d0f9f1f-f22f-44fd-8844-410aa22a8c4a_Method">
    <vt:lpwstr>Standard</vt:lpwstr>
  </property>
  <property fmtid="{D5CDD505-2E9C-101B-9397-08002B2CF9AE}" pid="7" name="MSIP_Label_7d0f9f1f-f22f-44fd-8844-410aa22a8c4a_Name">
    <vt:lpwstr>Confidential</vt:lpwstr>
  </property>
  <property fmtid="{D5CDD505-2E9C-101B-9397-08002B2CF9AE}" pid="8" name="MSIP_Label_7d0f9f1f-f22f-44fd-8844-410aa22a8c4a_SiteId">
    <vt:lpwstr>fa7adf0d-de2d-4570-8f5f-4bca4772988f</vt:lpwstr>
  </property>
  <property fmtid="{D5CDD505-2E9C-101B-9397-08002B2CF9AE}" pid="9" name="MSIP_Label_7d0f9f1f-f22f-44fd-8844-410aa22a8c4a_ActionId">
    <vt:lpwstr>18fbde65-53d5-4116-afa1-c8134c241092</vt:lpwstr>
  </property>
  <property fmtid="{D5CDD505-2E9C-101B-9397-08002B2CF9AE}" pid="10" name="MSIP_Label_7d0f9f1f-f22f-44fd-8844-410aa22a8c4a_ContentBits">
    <vt:lpwstr>2</vt:lpwstr>
  </property>
  <property fmtid="{D5CDD505-2E9C-101B-9397-08002B2CF9AE}" pid="11" name="MSIP_Label_7d0f9f1f-f22f-44fd-8844-410aa22a8c4a_Tag">
    <vt:lpwstr>10, 3, 0, 1</vt:lpwstr>
  </property>
  <property fmtid="{D5CDD505-2E9C-101B-9397-08002B2CF9AE}" pid="12" name="ClassificationContentMarkingFooterText">
    <vt:lpwstr>Classification: Confidential</vt:lpwstr>
  </property>
</Properties>
</file>
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1" r:id="rId4"/>
  </p:sldMasterIdLst>
  <p:notesMasterIdLst>
    <p:notesMasterId r:id="rId8"/>
  </p:notesMasterIdLst>
  <p:sldIdLst>
    <p:sldId id="300" r:id="rId100"/>
    <p:sldId id="301" r:id="rId101"/>
    <p:sldId id="302" r:id="rId102"/>
    <p:sldId id="303" r:id="rId103"/>
    <p:sldId id="304" r:id="rId104"/>
    <p:sldId id="305" r:id="rId105"/>
    <p:sldId id="306" r:id="rId106"/>
    <p:sldId id="307" r:id="rId107"/>
    <p:sldId id="308" r:id="rId108"/>
    <p:sldId id="309" r:id="rId109"/>
    <p:sldId id="310" r:id="rId110"/>
    <p:sldId id="311" r:id="rId111"/>
    <p:sldId id="312" r:id="rId112"/>
    <p:sldId id="313" r:id="rId113"/>
    <p:sldId id="314" r:id="rId114"/>
  </p:sldIdLst>
  <p:sldSz cx="12192000" cy="6858000"/>
  <p:notesSz cx="6807200" cy="99393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355E"/>
    <a:srgbClr val="48B2E8"/>
    <a:srgbClr val="693278"/>
    <a:srgbClr val="00A19B"/>
    <a:srgbClr val="EC008C"/>
    <a:srgbClr val="0070C0"/>
    <a:srgbClr val="F99D25"/>
    <a:srgbClr val="262982"/>
    <a:srgbClr val="A9ABAD"/>
    <a:srgbClr val="A4D55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11" Type="http://schemas.openxmlformats.org/officeDocument/2006/relationships/theme" Target="theme/them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Relationship Id="rId100" Type="http://schemas.openxmlformats.org/officeDocument/2006/relationships/slide" Target="slides/slide1.xml"/><Relationship Id="rId101" Type="http://schemas.openxmlformats.org/officeDocument/2006/relationships/slide" Target="slides/slide2.xml"/><Relationship Id="rId102" Type="http://schemas.openxmlformats.org/officeDocument/2006/relationships/slide" Target="slides/slide3.xml"/><Relationship Id="rId103" Type="http://schemas.openxmlformats.org/officeDocument/2006/relationships/slide" Target="slides/slide4.xml"/><Relationship Id="rId104" Type="http://schemas.openxmlformats.org/officeDocument/2006/relationships/slide" Target="slides/slide5.xml"/><Relationship Id="rId105" Type="http://schemas.openxmlformats.org/officeDocument/2006/relationships/slide" Target="slides/slide6.xml"/><Relationship Id="rId106" Type="http://schemas.openxmlformats.org/officeDocument/2006/relationships/slide" Target="slides/slide7.xml"/><Relationship Id="rId107" Type="http://schemas.openxmlformats.org/officeDocument/2006/relationships/slide" Target="slides/slide8.xml"/><Relationship Id="rId108" Type="http://schemas.openxmlformats.org/officeDocument/2006/relationships/slide" Target="slides/slide9.xml"/><Relationship Id="rId109" Type="http://schemas.openxmlformats.org/officeDocument/2006/relationships/slide" Target="slides/slide10.xml"/><Relationship Id="rId110" Type="http://schemas.openxmlformats.org/officeDocument/2006/relationships/slide" Target="slides/slide11.xml"/><Relationship Id="rId111" Type="http://schemas.openxmlformats.org/officeDocument/2006/relationships/slide" Target="slides/slide12.xml"/><Relationship Id="rId112" Type="http://schemas.openxmlformats.org/officeDocument/2006/relationships/slide" Target="slides/slide13.xml"/><Relationship Id="rId113" Type="http://schemas.openxmlformats.org/officeDocument/2006/relationships/slide" Target="slides/slide14.xml"/><Relationship Id="rId114" Type="http://schemas.openxmlformats.org/officeDocument/2006/relationships/slide" Target="slides/slide1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5838" y="0"/>
            <a:ext cx="2949787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FFDE27-80D4-48B1-982F-604FC8E35937}" type="datetimeFigureOut">
              <a:rPr lang="en-AU" smtClean="0"/>
              <a:t>21/10/2025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3013"/>
            <a:ext cx="59626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720" y="4783307"/>
            <a:ext cx="5445760" cy="3913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0647"/>
            <a:ext cx="2949787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5838" y="9440647"/>
            <a:ext cx="2949787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BAA301-1078-400B-B37D-E4D5ADDB21B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0806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ackground pattern&#10;&#10;Description automatically generated with medium confidence">
            <a:extLst>
              <a:ext uri="{FF2B5EF4-FFF2-40B4-BE49-F238E27FC236}">
                <a16:creationId xmlns:a16="http://schemas.microsoft.com/office/drawing/2014/main" id="{B4B80BB8-3AAB-4708-9C67-E901BB54D7F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8" name="Title 17">
            <a:extLst>
              <a:ext uri="{FF2B5EF4-FFF2-40B4-BE49-F238E27FC236}">
                <a16:creationId xmlns:a16="http://schemas.microsoft.com/office/drawing/2014/main" id="{B7E91496-5AE4-5F48-9D44-1301CAF0837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2936557"/>
            <a:ext cx="4904975" cy="861774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defRPr sz="2800" b="1">
                <a:solidFill>
                  <a:schemeClr val="bg1"/>
                </a:solidFill>
                <a:latin typeface="Museo Sans 700" panose="02000000000000000000" pitchFamily="50" charset="0"/>
                <a:ea typeface="Gadugi" panose="020B0502040204020203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to edit</a:t>
            </a:r>
            <a:br>
              <a:rPr lang="en-GB"/>
            </a:br>
            <a:r>
              <a:rPr lang="en-GB"/>
              <a:t>Master title style</a:t>
            </a:r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09DDEF-EDB1-E843-BE0B-8FA7557E2A99}"/>
              </a:ext>
            </a:extLst>
          </p:cNvPr>
          <p:cNvSpPr txBox="1"/>
          <p:nvPr userDrawn="1"/>
        </p:nvSpPr>
        <p:spPr>
          <a:xfrm>
            <a:off x="3944770" y="-698739"/>
            <a:ext cx="4280018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>
                <a:solidFill>
                  <a:schemeClr val="bg1"/>
                </a:solidFill>
                <a:latin typeface="Regola Pro" panose="02000000000000000000" pitchFamily="2" charset="77"/>
              </a:rPr>
              <a:t>Graphic elements on slide for editability</a:t>
            </a:r>
          </a:p>
        </p:txBody>
      </p:sp>
    </p:spTree>
    <p:extLst>
      <p:ext uri="{BB962C8B-B14F-4D97-AF65-F5344CB8AC3E}">
        <p14:creationId xmlns:p14="http://schemas.microsoft.com/office/powerpoint/2010/main" val="25111943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C709DDEF-EDB1-E843-BE0B-8FA7557E2A99}"/>
              </a:ext>
            </a:extLst>
          </p:cNvPr>
          <p:cNvSpPr txBox="1"/>
          <p:nvPr userDrawn="1"/>
        </p:nvSpPr>
        <p:spPr>
          <a:xfrm>
            <a:off x="3944770" y="-698739"/>
            <a:ext cx="4280018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>
                <a:solidFill>
                  <a:schemeClr val="bg1"/>
                </a:solidFill>
                <a:latin typeface="Regola Pro" panose="02000000000000000000" pitchFamily="2" charset="77"/>
              </a:rPr>
              <a:t>Graphic elements on slide for editability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A7E48F8-CD11-41D1-8AC4-43269F74014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-5398"/>
            <a:ext cx="12192000" cy="6860031"/>
          </a:xfrm>
          <a:prstGeom prst="rect">
            <a:avLst/>
          </a:prstGeom>
        </p:spPr>
      </p:pic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D7E634FC-DCAE-420F-8D14-9F53C2B17A4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94854" y="6055112"/>
            <a:ext cx="737736" cy="463824"/>
          </a:xfrm>
          <a:prstGeom prst="rect">
            <a:avLst/>
          </a:prstGeom>
        </p:spPr>
      </p:pic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2F59CE49-6F81-40DE-8E5D-5BFEBD3B2D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97533" y="1747043"/>
            <a:ext cx="4961819" cy="3963987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Gadugi" panose="020B0502040204020203" pitchFamily="34" charset="0"/>
                <a:ea typeface="Gadugi" panose="020B0502040204020203" pitchFamily="34" charset="0"/>
              </a:defRPr>
            </a:lvl1pPr>
            <a:lvl2pPr>
              <a:defRPr sz="1400">
                <a:latin typeface="Gadugi" panose="020B0502040204020203" pitchFamily="34" charset="0"/>
                <a:ea typeface="Gadugi" panose="020B0502040204020203" pitchFamily="34" charset="0"/>
              </a:defRPr>
            </a:lvl2pPr>
            <a:lvl3pPr>
              <a:defRPr sz="1400">
                <a:latin typeface="Gadugi" panose="020B0502040204020203" pitchFamily="34" charset="0"/>
                <a:ea typeface="Gadugi" panose="020B0502040204020203" pitchFamily="34" charset="0"/>
              </a:defRPr>
            </a:lvl3pPr>
            <a:lvl4pPr>
              <a:defRPr sz="1400">
                <a:latin typeface="Gadugi" panose="020B0502040204020203" pitchFamily="34" charset="0"/>
                <a:ea typeface="Gadugi" panose="020B0502040204020203" pitchFamily="34" charset="0"/>
              </a:defRPr>
            </a:lvl4pPr>
            <a:lvl5pPr>
              <a:defRPr sz="1400">
                <a:latin typeface="Gadugi" panose="020B0502040204020203" pitchFamily="34" charset="0"/>
                <a:ea typeface="Gadugi" panose="020B05020402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FF2908-C746-4EE7-9B75-2C1DDBA2665B}"/>
              </a:ext>
            </a:extLst>
          </p:cNvPr>
          <p:cNvSpPr txBox="1"/>
          <p:nvPr userDrawn="1"/>
        </p:nvSpPr>
        <p:spPr>
          <a:xfrm>
            <a:off x="720000" y="359069"/>
            <a:ext cx="271762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fld id="{B9EE2BC0-D18E-1346-994E-C2D914A2D338}" type="slidenum">
              <a:rPr lang="en-US" sz="800" smtClean="0">
                <a:solidFill>
                  <a:schemeClr val="tx2"/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‹#›</a:t>
            </a:fld>
            <a:r>
              <a:rPr lang="en-US" sz="800">
                <a:solidFill>
                  <a:schemeClr val="tx2"/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  |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CBAF1585-46C9-4D0C-B228-752D6B90A89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90000" y="247156"/>
            <a:ext cx="4605337" cy="284162"/>
          </a:xfrm>
          <a:prstGeom prst="rect">
            <a:avLst/>
          </a:prstGeom>
        </p:spPr>
        <p:txBody>
          <a:bodyPr anchor="b"/>
          <a:lstStyle>
            <a:lvl1pPr>
              <a:buNone/>
              <a:defRPr sz="800">
                <a:solidFill>
                  <a:schemeClr val="tx2"/>
                </a:solidFill>
                <a:latin typeface="Gadugi" panose="020B0502040204020203" pitchFamily="34" charset="0"/>
                <a:ea typeface="Gadugi" panose="020B0502040204020203" pitchFamily="34" charset="0"/>
              </a:defRPr>
            </a:lvl1pPr>
            <a:lvl2pPr>
              <a:buNone/>
              <a:defRPr sz="800">
                <a:latin typeface="Regola Pro" panose="02000000000000000000" pitchFamily="2" charset="77"/>
              </a:defRPr>
            </a:lvl2pPr>
            <a:lvl3pPr>
              <a:buNone/>
              <a:defRPr sz="800">
                <a:latin typeface="Regola Pro" panose="02000000000000000000" pitchFamily="2" charset="77"/>
              </a:defRPr>
            </a:lvl3pPr>
            <a:lvl4pPr>
              <a:buNone/>
              <a:defRPr sz="800">
                <a:latin typeface="Regola Pro" panose="02000000000000000000" pitchFamily="2" charset="77"/>
              </a:defRPr>
            </a:lvl4pPr>
            <a:lvl5pPr>
              <a:buNone/>
              <a:defRPr sz="800">
                <a:latin typeface="Regola Pro" panose="02000000000000000000" pitchFamily="2" charset="77"/>
              </a:defRPr>
            </a:lvl5pPr>
          </a:lstStyle>
          <a:p>
            <a:pPr lvl="0"/>
            <a:r>
              <a:rPr lang="en-GB"/>
              <a:t>Presentation title</a:t>
            </a:r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7D798463-7E8F-4485-BC21-8F646A9A1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7533" y="978482"/>
            <a:ext cx="10548859" cy="3600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>
              <a:defRPr sz="2800" b="1">
                <a:latin typeface="Museo Sans 700" panose="02000000000000000000" pitchFamily="50" charset="0"/>
                <a:ea typeface="Gadugi" panose="020B0502040204020203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749283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Medi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293AF2C2-093D-CF40-B17B-65DD199055F0}"/>
              </a:ext>
            </a:extLst>
          </p:cNvPr>
          <p:cNvSpPr txBox="1"/>
          <p:nvPr userDrawn="1"/>
        </p:nvSpPr>
        <p:spPr>
          <a:xfrm>
            <a:off x="3944770" y="-698739"/>
            <a:ext cx="4280018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>
                <a:solidFill>
                  <a:schemeClr val="bg1"/>
                </a:solidFill>
                <a:latin typeface="Regola Pro" panose="02000000000000000000" pitchFamily="2" charset="77"/>
              </a:rPr>
              <a:t>Graphic elements on slide for editability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2170AF-B30C-412B-7634-9A6C87285EAA}"/>
              </a:ext>
            </a:extLst>
          </p:cNvPr>
          <p:cNvSpPr txBox="1"/>
          <p:nvPr userDrawn="1"/>
        </p:nvSpPr>
        <p:spPr>
          <a:xfrm>
            <a:off x="720000" y="359069"/>
            <a:ext cx="271762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fld id="{B9EE2BC0-D18E-1346-994E-C2D914A2D338}" type="slidenum">
              <a:rPr lang="en-US" sz="800" smtClean="0">
                <a:solidFill>
                  <a:schemeClr val="tx2"/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‹#›</a:t>
            </a:fld>
            <a:r>
              <a:rPr lang="en-US" sz="800">
                <a:solidFill>
                  <a:schemeClr val="tx2"/>
                </a:solidFill>
                <a:latin typeface="Regola Pro" panose="02000000000000000000" pitchFamily="2" charset="77"/>
              </a:rPr>
              <a:t>  |</a:t>
            </a:r>
          </a:p>
        </p:txBody>
      </p:sp>
      <p:pic>
        <p:nvPicPr>
          <p:cNvPr id="8" name="Picture 7" descr="Background pattern&#10;&#10;Description automatically generated with medium confidence">
            <a:extLst>
              <a:ext uri="{FF2B5EF4-FFF2-40B4-BE49-F238E27FC236}">
                <a16:creationId xmlns:a16="http://schemas.microsoft.com/office/drawing/2014/main" id="{C6DA6279-40B4-4B2C-8120-12ACCAF193A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4B2B5C1-136D-485A-A449-DF957F8D47F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20006" y="1738313"/>
            <a:ext cx="8011710" cy="338137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800" b="1">
                <a:solidFill>
                  <a:schemeClr val="tx2"/>
                </a:solidFill>
                <a:latin typeface="Museo Sans 700" panose="02000000000000000000" pitchFamily="50" charset="0"/>
                <a:ea typeface="Gadugi" panose="020B0502040204020203" pitchFamily="34" charset="0"/>
              </a:defRPr>
            </a:lvl1pPr>
            <a:lvl2pPr>
              <a:buNone/>
              <a:defRPr sz="2800">
                <a:latin typeface="Regola Pro" panose="02000000000000000000" pitchFamily="2" charset="77"/>
              </a:defRPr>
            </a:lvl2pPr>
            <a:lvl3pPr>
              <a:buNone/>
              <a:defRPr sz="2800">
                <a:latin typeface="Regola Pro" panose="02000000000000000000" pitchFamily="2" charset="77"/>
              </a:defRPr>
            </a:lvl3pPr>
            <a:lvl4pPr>
              <a:buNone/>
              <a:defRPr sz="2800">
                <a:latin typeface="Regola Pro" panose="02000000000000000000" pitchFamily="2" charset="77"/>
              </a:defRPr>
            </a:lvl4pPr>
            <a:lvl5pPr>
              <a:buNone/>
              <a:defRPr sz="2800">
                <a:latin typeface="Regola Pro" panose="02000000000000000000" pitchFamily="2" charset="77"/>
              </a:defRPr>
            </a:lvl5pPr>
          </a:lstStyle>
          <a:p>
            <a:pPr lvl="0"/>
            <a:r>
              <a:rPr lang="en-GB"/>
              <a:t>Insert text</a:t>
            </a:r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6717402-82C2-417D-90DB-B5A96E522149}"/>
              </a:ext>
            </a:extLst>
          </p:cNvPr>
          <p:cNvSpPr txBox="1"/>
          <p:nvPr userDrawn="1"/>
        </p:nvSpPr>
        <p:spPr>
          <a:xfrm>
            <a:off x="720000" y="359069"/>
            <a:ext cx="271762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fld id="{B9EE2BC0-D18E-1346-994E-C2D914A2D338}" type="slidenum">
              <a:rPr lang="en-US" sz="800" smtClean="0">
                <a:solidFill>
                  <a:schemeClr val="tx2"/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‹#›</a:t>
            </a:fld>
            <a:r>
              <a:rPr lang="en-US" sz="800">
                <a:solidFill>
                  <a:schemeClr val="tx2"/>
                </a:solidFill>
                <a:latin typeface="Regola Pro" panose="02000000000000000000" pitchFamily="2" charset="77"/>
              </a:rPr>
              <a:t>  |</a:t>
            </a:r>
          </a:p>
        </p:txBody>
      </p:sp>
      <p:sp>
        <p:nvSpPr>
          <p:cNvPr id="13" name="Text Placeholder 17">
            <a:extLst>
              <a:ext uri="{FF2B5EF4-FFF2-40B4-BE49-F238E27FC236}">
                <a16:creationId xmlns:a16="http://schemas.microsoft.com/office/drawing/2014/main" id="{92FDA59A-E7EC-42FC-88B0-2BDC8D5ED48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90000" y="244672"/>
            <a:ext cx="4605337" cy="284162"/>
          </a:xfrm>
          <a:prstGeom prst="rect">
            <a:avLst/>
          </a:prstGeom>
        </p:spPr>
        <p:txBody>
          <a:bodyPr anchor="b"/>
          <a:lstStyle>
            <a:lvl1pPr>
              <a:buNone/>
              <a:defRPr sz="800">
                <a:solidFill>
                  <a:schemeClr val="tx2"/>
                </a:solidFill>
                <a:latin typeface="Gadugi" panose="020B0502040204020203" pitchFamily="34" charset="0"/>
                <a:ea typeface="Gadugi" panose="020B0502040204020203" pitchFamily="34" charset="0"/>
              </a:defRPr>
            </a:lvl1pPr>
            <a:lvl2pPr>
              <a:buNone/>
              <a:defRPr sz="800">
                <a:latin typeface="Regola Pro" panose="02000000000000000000" pitchFamily="2" charset="77"/>
              </a:defRPr>
            </a:lvl2pPr>
            <a:lvl3pPr>
              <a:buNone/>
              <a:defRPr sz="800">
                <a:latin typeface="Regola Pro" panose="02000000000000000000" pitchFamily="2" charset="77"/>
              </a:defRPr>
            </a:lvl3pPr>
            <a:lvl4pPr>
              <a:buNone/>
              <a:defRPr sz="800">
                <a:latin typeface="Regola Pro" panose="02000000000000000000" pitchFamily="2" charset="77"/>
              </a:defRPr>
            </a:lvl4pPr>
            <a:lvl5pPr>
              <a:buNone/>
              <a:defRPr sz="800">
                <a:latin typeface="Regola Pro" panose="02000000000000000000" pitchFamily="2" charset="77"/>
              </a:defRPr>
            </a:lvl5pPr>
          </a:lstStyle>
          <a:p>
            <a:pPr lvl="0"/>
            <a:r>
              <a:rPr lang="en-GB"/>
              <a:t>Presentation title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0883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Background pattern&#10;&#10;Description automatically generated with medium confidence">
            <a:extLst>
              <a:ext uri="{FF2B5EF4-FFF2-40B4-BE49-F238E27FC236}">
                <a16:creationId xmlns:a16="http://schemas.microsoft.com/office/drawing/2014/main" id="{E2174CBA-D603-473C-8F3D-1A42176CA1E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B5ABAB4C-EA80-AF42-844B-ECBD38BF43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07806" y="978482"/>
            <a:ext cx="4771879" cy="443198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bg1"/>
                </a:solidFill>
                <a:latin typeface="Gadugi" panose="020B0502040204020203" pitchFamily="34" charset="0"/>
                <a:ea typeface="Gadugi" panose="020B0502040204020203" pitchFamily="34" charset="0"/>
              </a:defRPr>
            </a:lvl1pPr>
          </a:lstStyle>
          <a:p>
            <a:r>
              <a:rPr lang="en-GB"/>
              <a:t>Header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B401973-A9B9-6640-B13E-AA578238D78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07806" y="1747043"/>
            <a:ext cx="4771879" cy="33639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00">
                <a:solidFill>
                  <a:schemeClr val="bg1"/>
                </a:solidFill>
                <a:latin typeface="Gadugi" panose="020B0502040204020203" pitchFamily="34" charset="0"/>
                <a:ea typeface="Gadugi" panose="020B0502040204020203" pitchFamily="34" charset="0"/>
              </a:defRPr>
            </a:lvl1pPr>
            <a:lvl2pPr indent="0">
              <a:buNone/>
              <a:defRPr>
                <a:latin typeface="Regola Pro" panose="02000000000000000000" pitchFamily="2" charset="77"/>
              </a:defRPr>
            </a:lvl2pPr>
            <a:lvl3pPr indent="0">
              <a:buNone/>
              <a:defRPr>
                <a:latin typeface="Regola Pro" panose="02000000000000000000" pitchFamily="2" charset="77"/>
              </a:defRPr>
            </a:lvl3pPr>
            <a:lvl4pPr indent="0">
              <a:buNone/>
              <a:defRPr>
                <a:latin typeface="Regola Pro" panose="02000000000000000000" pitchFamily="2" charset="77"/>
              </a:defRPr>
            </a:lvl4pPr>
            <a:lvl5pPr indent="0">
              <a:buNone/>
              <a:defRPr>
                <a:latin typeface="Regola Pro" panose="02000000000000000000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0BA73A-3BA0-2F4B-9C48-375289E729B3}"/>
              </a:ext>
            </a:extLst>
          </p:cNvPr>
          <p:cNvSpPr txBox="1"/>
          <p:nvPr userDrawn="1"/>
        </p:nvSpPr>
        <p:spPr>
          <a:xfrm>
            <a:off x="3944770" y="-698739"/>
            <a:ext cx="4280018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>
                <a:solidFill>
                  <a:schemeClr val="bg1"/>
                </a:solidFill>
                <a:latin typeface="Regola Pro" panose="02000000000000000000" pitchFamily="2" charset="77"/>
              </a:rPr>
              <a:t>Graphic elements on slide for editability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A45929-29D9-4A11-916B-F38E3F4ABB8F}"/>
              </a:ext>
            </a:extLst>
          </p:cNvPr>
          <p:cNvSpPr txBox="1"/>
          <p:nvPr userDrawn="1"/>
        </p:nvSpPr>
        <p:spPr>
          <a:xfrm>
            <a:off x="720000" y="359069"/>
            <a:ext cx="271762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fld id="{B9EE2BC0-D18E-1346-994E-C2D914A2D338}" type="slidenum">
              <a:rPr lang="en-US" sz="800" smtClean="0">
                <a:solidFill>
                  <a:schemeClr val="bg1"/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‹#›</a:t>
            </a:fld>
            <a:r>
              <a:rPr lang="en-US" sz="800">
                <a:solidFill>
                  <a:schemeClr val="bg1"/>
                </a:solidFill>
                <a:latin typeface="Regola Pro" panose="02000000000000000000" pitchFamily="2" charset="77"/>
              </a:rPr>
              <a:t>  |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860898B-3640-490F-A644-5A19F0485A42}"/>
              </a:ext>
            </a:extLst>
          </p:cNvPr>
          <p:cNvSpPr txBox="1"/>
          <p:nvPr userDrawn="1"/>
        </p:nvSpPr>
        <p:spPr>
          <a:xfrm>
            <a:off x="720000" y="359069"/>
            <a:ext cx="271762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fld id="{B9EE2BC0-D18E-1346-994E-C2D914A2D338}" type="slidenum">
              <a:rPr lang="en-US" sz="800" smtClean="0">
                <a:solidFill>
                  <a:schemeClr val="bg1"/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‹#›</a:t>
            </a:fld>
            <a:r>
              <a:rPr lang="en-US" sz="800">
                <a:solidFill>
                  <a:schemeClr val="bg1"/>
                </a:solidFill>
                <a:latin typeface="Regola Pro" panose="02000000000000000000" pitchFamily="2" charset="77"/>
              </a:rPr>
              <a:t>  |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5CB497D4-C298-4A39-A22B-4427EE6B0C1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90000" y="244672"/>
            <a:ext cx="4605337" cy="284162"/>
          </a:xfrm>
          <a:prstGeom prst="rect">
            <a:avLst/>
          </a:prstGeom>
        </p:spPr>
        <p:txBody>
          <a:bodyPr anchor="b"/>
          <a:lstStyle>
            <a:lvl1pPr>
              <a:buNone/>
              <a:defRPr sz="800">
                <a:solidFill>
                  <a:schemeClr val="bg1"/>
                </a:solidFill>
                <a:latin typeface="Gadugi" panose="020B0502040204020203" pitchFamily="34" charset="0"/>
                <a:ea typeface="Gadugi" panose="020B0502040204020203" pitchFamily="34" charset="0"/>
              </a:defRPr>
            </a:lvl1pPr>
            <a:lvl2pPr>
              <a:buNone/>
              <a:defRPr sz="800">
                <a:latin typeface="Regola Pro" panose="02000000000000000000" pitchFamily="2" charset="77"/>
              </a:defRPr>
            </a:lvl2pPr>
            <a:lvl3pPr>
              <a:buNone/>
              <a:defRPr sz="800">
                <a:latin typeface="Regola Pro" panose="02000000000000000000" pitchFamily="2" charset="77"/>
              </a:defRPr>
            </a:lvl3pPr>
            <a:lvl4pPr>
              <a:buNone/>
              <a:defRPr sz="800">
                <a:latin typeface="Regola Pro" panose="02000000000000000000" pitchFamily="2" charset="77"/>
              </a:defRPr>
            </a:lvl4pPr>
            <a:lvl5pPr>
              <a:buNone/>
              <a:defRPr sz="800">
                <a:latin typeface="Regola Pro" panose="02000000000000000000" pitchFamily="2" charset="77"/>
              </a:defRPr>
            </a:lvl5pPr>
          </a:lstStyle>
          <a:p>
            <a:pPr lvl="0"/>
            <a:r>
              <a:rPr lang="en-GB"/>
              <a:t>Presentation title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9948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l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8F44F95-B98A-4BC2-94F3-11C5E96B9F0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-5398"/>
            <a:ext cx="12192000" cy="6860031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F5F45EF-E9AC-4F4B-A2C9-B58AF4D96F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97532" y="1747043"/>
            <a:ext cx="4961819" cy="3963987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Gadugi" panose="020B0502040204020203" pitchFamily="34" charset="0"/>
                <a:ea typeface="Gadugi" panose="020B0502040204020203" pitchFamily="34" charset="0"/>
              </a:defRPr>
            </a:lvl1pPr>
            <a:lvl2pPr>
              <a:defRPr sz="1400">
                <a:latin typeface="Gadugi" panose="020B0502040204020203" pitchFamily="34" charset="0"/>
                <a:ea typeface="Gadugi" panose="020B0502040204020203" pitchFamily="34" charset="0"/>
              </a:defRPr>
            </a:lvl2pPr>
            <a:lvl3pPr>
              <a:defRPr sz="1400">
                <a:latin typeface="Gadugi" panose="020B0502040204020203" pitchFamily="34" charset="0"/>
                <a:ea typeface="Gadugi" panose="020B0502040204020203" pitchFamily="34" charset="0"/>
              </a:defRPr>
            </a:lvl3pPr>
            <a:lvl4pPr>
              <a:defRPr sz="1400">
                <a:latin typeface="Gadugi" panose="020B0502040204020203" pitchFamily="34" charset="0"/>
                <a:ea typeface="Gadugi" panose="020B0502040204020203" pitchFamily="34" charset="0"/>
              </a:defRPr>
            </a:lvl4pPr>
            <a:lvl5pPr>
              <a:defRPr sz="1400">
                <a:latin typeface="Gadugi" panose="020B0502040204020203" pitchFamily="34" charset="0"/>
                <a:ea typeface="Gadugi" panose="020B05020402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CD5056-4D68-3B45-9FD6-177B8C83E2D6}"/>
              </a:ext>
            </a:extLst>
          </p:cNvPr>
          <p:cNvSpPr txBox="1"/>
          <p:nvPr userDrawn="1"/>
        </p:nvSpPr>
        <p:spPr>
          <a:xfrm>
            <a:off x="720000" y="359069"/>
            <a:ext cx="271762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fld id="{B9EE2BC0-D18E-1346-994E-C2D914A2D338}" type="slidenum">
              <a:rPr lang="en-US" sz="800" smtClean="0">
                <a:solidFill>
                  <a:schemeClr val="tx2"/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‹#›</a:t>
            </a:fld>
            <a:r>
              <a:rPr lang="en-US" sz="800">
                <a:solidFill>
                  <a:schemeClr val="tx2"/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  |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0316DEC9-8D08-6543-A3E8-14BF016A737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90000" y="249808"/>
            <a:ext cx="4605337" cy="284162"/>
          </a:xfrm>
          <a:prstGeom prst="rect">
            <a:avLst/>
          </a:prstGeom>
        </p:spPr>
        <p:txBody>
          <a:bodyPr anchor="b"/>
          <a:lstStyle>
            <a:lvl1pPr>
              <a:buNone/>
              <a:defRPr sz="800">
                <a:solidFill>
                  <a:schemeClr val="tx2"/>
                </a:solidFill>
                <a:latin typeface="Gadugi" panose="020B0502040204020203" pitchFamily="34" charset="0"/>
                <a:ea typeface="Gadugi" panose="020B0502040204020203" pitchFamily="34" charset="0"/>
              </a:defRPr>
            </a:lvl1pPr>
            <a:lvl2pPr>
              <a:buNone/>
              <a:defRPr sz="800">
                <a:latin typeface="Regola Pro" panose="02000000000000000000" pitchFamily="2" charset="77"/>
              </a:defRPr>
            </a:lvl2pPr>
            <a:lvl3pPr>
              <a:buNone/>
              <a:defRPr sz="800">
                <a:latin typeface="Regola Pro" panose="02000000000000000000" pitchFamily="2" charset="77"/>
              </a:defRPr>
            </a:lvl3pPr>
            <a:lvl4pPr>
              <a:buNone/>
              <a:defRPr sz="800">
                <a:latin typeface="Regola Pro" panose="02000000000000000000" pitchFamily="2" charset="77"/>
              </a:defRPr>
            </a:lvl4pPr>
            <a:lvl5pPr>
              <a:buNone/>
              <a:defRPr sz="800">
                <a:latin typeface="Regola Pro" panose="02000000000000000000" pitchFamily="2" charset="77"/>
              </a:defRPr>
            </a:lvl5pPr>
          </a:lstStyle>
          <a:p>
            <a:pPr lvl="0"/>
            <a:r>
              <a:rPr lang="en-GB"/>
              <a:t>Presentation title</a:t>
            </a:r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BD9959CD-334B-D445-87AB-E8B0F31AE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7532" y="978482"/>
            <a:ext cx="10548859" cy="3600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>
              <a:defRPr sz="2800" b="1">
                <a:latin typeface="Museo Sans 700" panose="02000000000000000000" pitchFamily="50" charset="0"/>
                <a:ea typeface="Gadugi" panose="020B0502040204020203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761B88C8-B82E-4EC8-8912-2FB40BA05C9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94854" y="6055112"/>
            <a:ext cx="737736" cy="463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9629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5" orient="horz" pos="300">
          <p15:clr>
            <a:srgbClr val="FBAE40"/>
          </p15:clr>
        </p15:guide>
        <p15:guide id="6" orient="horz" pos="3884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Pl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665BF34-E474-4D20-9F16-047ED71578DE}"/>
              </a:ext>
            </a:extLst>
          </p:cNvPr>
          <p:cNvSpPr/>
          <p:nvPr userDrawn="1"/>
        </p:nvSpPr>
        <p:spPr>
          <a:xfrm>
            <a:off x="0" y="-114300"/>
            <a:ext cx="12192000" cy="6972300"/>
          </a:xfrm>
          <a:prstGeom prst="rect">
            <a:avLst/>
          </a:prstGeom>
          <a:gradFill>
            <a:gsLst>
              <a:gs pos="0">
                <a:srgbClr val="002D64"/>
              </a:gs>
              <a:gs pos="100000">
                <a:srgbClr val="00194A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pic>
        <p:nvPicPr>
          <p:cNvPr id="3" name="Picture 16">
            <a:extLst>
              <a:ext uri="{FF2B5EF4-FFF2-40B4-BE49-F238E27FC236}">
                <a16:creationId xmlns:a16="http://schemas.microsoft.com/office/drawing/2014/main" id="{099B830F-DCC1-413C-8818-C4F2AED8E06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002724" y="-192614"/>
            <a:ext cx="2189276" cy="7050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6514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5" orient="horz" pos="300">
          <p15:clr>
            <a:srgbClr val="FBAE40"/>
          </p15:clr>
        </p15:guide>
        <p15:guide id="6" orient="horz" pos="388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7CF2C8B-D08C-406C-8BFA-A8AD68529F0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27326" y="-5398"/>
            <a:ext cx="12548839" cy="6860032"/>
          </a:xfrm>
          <a:prstGeom prst="rect">
            <a:avLst/>
          </a:prstGeom>
        </p:spPr>
      </p:pic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16BFB276-7E4F-44B5-AE1F-C8C937E9A78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20000" y="1747043"/>
            <a:ext cx="4961819" cy="3963987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Gadugi" panose="020B0502040204020203" pitchFamily="34" charset="0"/>
                <a:ea typeface="Gadugi" panose="020B0502040204020203" pitchFamily="34" charset="0"/>
              </a:defRPr>
            </a:lvl1pPr>
            <a:lvl2pPr>
              <a:defRPr sz="1400">
                <a:latin typeface="Gadugi" panose="020B0502040204020203" pitchFamily="34" charset="0"/>
                <a:ea typeface="Gadugi" panose="020B0502040204020203" pitchFamily="34" charset="0"/>
              </a:defRPr>
            </a:lvl2pPr>
            <a:lvl3pPr>
              <a:defRPr sz="1400">
                <a:latin typeface="Gadugi" panose="020B0502040204020203" pitchFamily="34" charset="0"/>
                <a:ea typeface="Gadugi" panose="020B0502040204020203" pitchFamily="34" charset="0"/>
              </a:defRPr>
            </a:lvl3pPr>
            <a:lvl4pPr>
              <a:defRPr sz="1400">
                <a:latin typeface="Gadugi" panose="020B0502040204020203" pitchFamily="34" charset="0"/>
                <a:ea typeface="Gadugi" panose="020B0502040204020203" pitchFamily="34" charset="0"/>
              </a:defRPr>
            </a:lvl4pPr>
            <a:lvl5pPr>
              <a:defRPr sz="1400">
                <a:latin typeface="Gadugi" panose="020B0502040204020203" pitchFamily="34" charset="0"/>
                <a:ea typeface="Gadugi" panose="020B05020402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F08A93-B375-40FD-BE73-EAC7BCFBAB84}"/>
              </a:ext>
            </a:extLst>
          </p:cNvPr>
          <p:cNvSpPr txBox="1"/>
          <p:nvPr userDrawn="1"/>
        </p:nvSpPr>
        <p:spPr>
          <a:xfrm>
            <a:off x="720000" y="359069"/>
            <a:ext cx="271762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fld id="{B9EE2BC0-D18E-1346-994E-C2D914A2D338}" type="slidenum">
              <a:rPr lang="en-US" sz="800" smtClean="0">
                <a:solidFill>
                  <a:schemeClr val="tx2"/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‹#›</a:t>
            </a:fld>
            <a:r>
              <a:rPr lang="en-US" sz="800">
                <a:solidFill>
                  <a:schemeClr val="tx2"/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  |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8CF7A5B-A832-4B9D-A932-6D59780D6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978482"/>
            <a:ext cx="10548859" cy="3600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>
              <a:defRPr sz="3200" b="1">
                <a:latin typeface="Gadugi" panose="020B0502040204020203" pitchFamily="34" charset="0"/>
                <a:ea typeface="Gadugi" panose="020B0502040204020203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C20D0B7E-B323-4F69-8536-91D2946FE18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94854" y="6055112"/>
            <a:ext cx="737736" cy="463824"/>
          </a:xfrm>
          <a:prstGeom prst="rect">
            <a:avLst/>
          </a:prstGeom>
        </p:spPr>
      </p:pic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C549D4A5-F786-4F5D-900C-CAC4A9BDC3E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90000" y="249808"/>
            <a:ext cx="4605337" cy="284162"/>
          </a:xfrm>
          <a:prstGeom prst="rect">
            <a:avLst/>
          </a:prstGeom>
        </p:spPr>
        <p:txBody>
          <a:bodyPr anchor="b"/>
          <a:lstStyle>
            <a:lvl1pPr>
              <a:buNone/>
              <a:defRPr sz="800">
                <a:solidFill>
                  <a:schemeClr val="tx2"/>
                </a:solidFill>
                <a:latin typeface="Gadugi" panose="020B0502040204020203" pitchFamily="34" charset="0"/>
                <a:ea typeface="Gadugi" panose="020B0502040204020203" pitchFamily="34" charset="0"/>
              </a:defRPr>
            </a:lvl1pPr>
            <a:lvl2pPr>
              <a:buNone/>
              <a:defRPr sz="800">
                <a:latin typeface="Regola Pro" panose="02000000000000000000" pitchFamily="2" charset="77"/>
              </a:defRPr>
            </a:lvl2pPr>
            <a:lvl3pPr>
              <a:buNone/>
              <a:defRPr sz="800">
                <a:latin typeface="Regola Pro" panose="02000000000000000000" pitchFamily="2" charset="77"/>
              </a:defRPr>
            </a:lvl3pPr>
            <a:lvl4pPr>
              <a:buNone/>
              <a:defRPr sz="800">
                <a:latin typeface="Regola Pro" panose="02000000000000000000" pitchFamily="2" charset="77"/>
              </a:defRPr>
            </a:lvl4pPr>
            <a:lvl5pPr>
              <a:buNone/>
              <a:defRPr sz="800">
                <a:latin typeface="Regola Pro" panose="02000000000000000000" pitchFamily="2" charset="77"/>
              </a:defRPr>
            </a:lvl5pPr>
          </a:lstStyle>
          <a:p>
            <a:pPr lvl="0"/>
            <a:r>
              <a:rPr lang="en-GB"/>
              <a:t>Presentation title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5793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00145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3" r:id="rId2"/>
    <p:sldLayoutId id="2147483676" r:id="rId3"/>
    <p:sldLayoutId id="2147483677" r:id="rId4"/>
    <p:sldLayoutId id="2147483682" r:id="rId5"/>
    <p:sldLayoutId id="2147483685" r:id="rId6"/>
    <p:sldLayoutId id="2147483686" r:id="rId7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2"/>
          </a:solidFill>
          <a:latin typeface="Gadugi" panose="020B0502040204020203" pitchFamily="34" charset="0"/>
          <a:ea typeface="Gadugi" panose="020B0502040204020203" pitchFamily="34" charset="0"/>
          <a:cs typeface="Arial" panose="020B0604020202020204" pitchFamily="34" charset="0"/>
        </a:defRPr>
      </a:lvl1pPr>
    </p:titleStyle>
    <p:bodyStyle>
      <a:lvl1pPr marL="180000" indent="-180000" algn="l" defTabSz="914400" rtl="0" eaLnBrk="1" latinLnBrk="0" hangingPunct="1">
        <a:lnSpc>
          <a:spcPct val="110000"/>
        </a:lnSpc>
        <a:spcBef>
          <a:spcPts val="400"/>
        </a:spcBef>
        <a:spcAft>
          <a:spcPts val="4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Gadugi" panose="020B0502040204020203" pitchFamily="34" charset="0"/>
          <a:ea typeface="Gadugi" panose="020B0502040204020203" pitchFamily="34" charset="0"/>
          <a:cs typeface="Arial" panose="020B0604020202020204" pitchFamily="34" charset="0"/>
        </a:defRPr>
      </a:lvl1pPr>
      <a:lvl2pPr marL="360000" indent="-180000" algn="l" defTabSz="914400" rtl="0" eaLnBrk="1" latinLnBrk="0" hangingPunct="1">
        <a:lnSpc>
          <a:spcPct val="110000"/>
        </a:lnSpc>
        <a:spcBef>
          <a:spcPts val="400"/>
        </a:spcBef>
        <a:spcAft>
          <a:spcPts val="4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Gadugi" panose="020B0502040204020203" pitchFamily="34" charset="0"/>
          <a:ea typeface="Gadugi" panose="020B0502040204020203" pitchFamily="34" charset="0"/>
          <a:cs typeface="Arial" panose="020B0604020202020204" pitchFamily="34" charset="0"/>
        </a:defRPr>
      </a:lvl2pPr>
      <a:lvl3pPr marL="540000" indent="-180000" algn="l" defTabSz="914400" rtl="0" eaLnBrk="1" latinLnBrk="0" hangingPunct="1">
        <a:lnSpc>
          <a:spcPct val="110000"/>
        </a:lnSpc>
        <a:spcBef>
          <a:spcPts val="400"/>
        </a:spcBef>
        <a:spcAft>
          <a:spcPts val="4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Gadugi" panose="020B0502040204020203" pitchFamily="34" charset="0"/>
          <a:ea typeface="Gadugi" panose="020B0502040204020203" pitchFamily="34" charset="0"/>
          <a:cs typeface="Arial" panose="020B0604020202020204" pitchFamily="34" charset="0"/>
        </a:defRPr>
      </a:lvl3pPr>
      <a:lvl4pPr marL="720000" indent="-180000" algn="l" defTabSz="914400" rtl="0" eaLnBrk="1" latinLnBrk="0" hangingPunct="1">
        <a:lnSpc>
          <a:spcPct val="110000"/>
        </a:lnSpc>
        <a:spcBef>
          <a:spcPts val="400"/>
        </a:spcBef>
        <a:spcAft>
          <a:spcPts val="4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Gadugi" panose="020B0502040204020203" pitchFamily="34" charset="0"/>
          <a:ea typeface="Gadugi" panose="020B0502040204020203" pitchFamily="34" charset="0"/>
          <a:cs typeface="Arial" panose="020B0604020202020204" pitchFamily="34" charset="0"/>
        </a:defRPr>
      </a:lvl4pPr>
      <a:lvl5pPr marL="900000" indent="-180000" algn="l" defTabSz="914400" rtl="0" eaLnBrk="1" latinLnBrk="0" hangingPunct="1">
        <a:lnSpc>
          <a:spcPct val="110000"/>
        </a:lnSpc>
        <a:spcBef>
          <a:spcPts val="400"/>
        </a:spcBef>
        <a:spcAft>
          <a:spcPts val="4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Gadugi" panose="020B0502040204020203" pitchFamily="34" charset="0"/>
          <a:ea typeface="Gadugi" panose="020B0502040204020203" pitchFamily="34" charset="0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234">
          <p15:clr>
            <a:srgbClr val="F26B43"/>
          </p15:clr>
        </p15:guide>
        <p15:guide id="4" pos="7446">
          <p15:clr>
            <a:srgbClr val="F26B43"/>
          </p15:clr>
        </p15:guide>
        <p15:guide id="5" orient="horz" pos="210">
          <p15:clr>
            <a:srgbClr val="F26B43"/>
          </p15:clr>
        </p15:guide>
        <p15:guide id="6" orient="horz" pos="4110">
          <p15:clr>
            <a:srgbClr val="F26B43"/>
          </p15:clr>
        </p15:guide>
      </p15:sldGuideLst>
    </p:ext>
  </p:ext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Box 101"/>
          <p:cNvSpPr txBox="1"/>
          <p:nvPr/>
        </p:nvSpPr>
        <p:spPr>
          <a:xfrm>
            <a:off x="720000" y="520000"/>
            <a:ext cx="10752000" cy="300000"/>
          </a:xfrm>
          <a:prstGeom prst="rect">
            <a:avLst/>
          </a:prstGeom>
          <a:noFill/>
        </p:spPr>
        <p:txBody>
          <a:bodyPr wrap="square" lIns="72000" tIns="36000" rIns="72000" bIns="36000">
            <a:norm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buNone/>
            </a:pPr>
            <a:r>
              <a:rPr lang="en-AU" sz="1000" b="1" dirty="0">
                <a:solidFill>
                  <a:srgbClr val="FF9E1B"/>
                </a:solidFill>
                <a:latin typeface="Arial"/>
              </a:rPr>
              <a:t>BEFORE YOU START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720000" y="820000"/>
            <a:ext cx="10752000" cy="560000"/>
          </a:xfrm>
          <a:prstGeom prst="rect">
            <a:avLst/>
          </a:prstGeom>
          <a:noFill/>
        </p:spPr>
        <p:txBody>
          <a:bodyPr wrap="square" lIns="72000" tIns="36000" rIns="72000" bIns="36000">
            <a:norm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buNone/>
            </a:pPr>
            <a:r>
              <a:rPr lang="en-AU" sz="2000" b="1" dirty="0">
                <a:solidFill>
                  <a:srgbClr val="1B365D"/>
                </a:solidFill>
                <a:latin typeface="Gadugi"/>
              </a:rPr>
              <a:t>Please remove this slide from your presentation pack prior to submission</a:t>
            </a:r>
          </a:p>
        </p:txBody>
      </p:sp>
      <p:sp>
        <p:nvSpPr>
          <p:cNvPr id="103" name="TextBox 103"/>
          <p:cNvSpPr txBox="1"/>
          <p:nvPr/>
        </p:nvSpPr>
        <p:spPr>
          <a:xfrm>
            <a:off x="720000" y="1600000"/>
            <a:ext cx="10752000" cy="4400000"/>
          </a:xfrm>
          <a:prstGeom prst="rect">
            <a:avLst/>
          </a:prstGeom>
          <a:noFill/>
        </p:spPr>
        <p:txBody>
          <a:bodyPr wrap="square" lIns="72000" tIns="36000" rIns="72000" bIns="36000">
            <a:norm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buNone/>
            </a:pPr>
            <a:r>
              <a:rPr lang="en-AU" sz="1300" b="1" dirty="0">
                <a:solidFill>
                  <a:srgbClr val="1B365D"/>
                </a:solidFill>
                <a:latin typeface="Arial"/>
              </a:rPr>
              <a:t>Guidelines for completing this pack:</a:t>
            </a:r>
          </a:p>
          <a:p>
            <a:pPr>
              <a:lnSpc>
                <a:spcPct val="105000"/>
              </a:lnSpc>
              <a:spcAft>
                <a:spcPts val="500"/>
              </a:spcAft>
              <a:buNone/>
            </a:pPr>
            <a:r>
              <a:rPr lang="en-AU" sz="1200" b="1" dirty="0">
                <a:solidFill>
                  <a:srgbClr val="FF9E1B"/>
                </a:solidFill>
                <a:latin typeface="Arial"/>
              </a:rPr>
              <a:t>•  </a:t>
            </a:r>
            <a:r>
              <a:rPr lang="en-AU" sz="1200" dirty="0">
                <a:solidFill>
                  <a:srgbClr val="191919"/>
                </a:solidFill>
                <a:latin typeface="Arial"/>
              </a:rPr>
              <a:t>All slides in the pack must be completed as part of your presentation</a:t>
            </a:r>
          </a:p>
          <a:p>
            <a:pPr>
              <a:lnSpc>
                <a:spcPct val="105000"/>
              </a:lnSpc>
              <a:spcAft>
                <a:spcPts val="500"/>
              </a:spcAft>
              <a:buNone/>
            </a:pPr>
            <a:r>
              <a:rPr lang="en-AU" sz="1200" b="1" dirty="0">
                <a:solidFill>
                  <a:srgbClr val="FF9E1B"/>
                </a:solidFill>
                <a:latin typeface="Arial"/>
              </a:rPr>
              <a:t>•  </a:t>
            </a:r>
            <a:r>
              <a:rPr lang="en-AU" sz="1200" dirty="0">
                <a:solidFill>
                  <a:srgbClr val="191919"/>
                </a:solidFill>
                <a:latin typeface="Arial"/>
              </a:rPr>
              <a:t>Slides should NOT be removed from the pack (except this slide)</a:t>
            </a:r>
          </a:p>
          <a:p>
            <a:pPr>
              <a:lnSpc>
                <a:spcPct val="105000"/>
              </a:lnSpc>
              <a:spcAft>
                <a:spcPts val="500"/>
              </a:spcAft>
              <a:buNone/>
            </a:pPr>
            <a:r>
              <a:rPr lang="en-AU" sz="1200" b="1" dirty="0">
                <a:solidFill>
                  <a:srgbClr val="FF9E1B"/>
                </a:solidFill>
                <a:latin typeface="Arial"/>
              </a:rPr>
              <a:t>•  </a:t>
            </a:r>
            <a:r>
              <a:rPr lang="en-AU" sz="1200" dirty="0">
                <a:solidFill>
                  <a:srgbClr val="191919"/>
                </a:solidFill>
                <a:latin typeface="Arial"/>
              </a:rPr>
              <a:t>Slides may be added if they provide additional supporting architectural detail relevant to your presentation</a:t>
            </a:r>
          </a:p>
          <a:p>
            <a:pPr>
              <a:lnSpc>
                <a:spcPct val="105000"/>
              </a:lnSpc>
              <a:spcAft>
                <a:spcPts val="500"/>
              </a:spcAft>
              <a:buNone/>
            </a:pPr>
            <a:r>
              <a:rPr lang="en-AU" sz="1200" b="1" dirty="0">
                <a:solidFill>
                  <a:srgbClr val="FF9E1B"/>
                </a:solidFill>
                <a:latin typeface="Arial"/>
              </a:rPr>
              <a:t>•  </a:t>
            </a:r>
            <a:r>
              <a:rPr lang="en-AU" sz="1200" dirty="0">
                <a:solidFill>
                  <a:srgbClr val="191919"/>
                </a:solidFill>
                <a:latin typeface="Arial"/>
              </a:rPr>
              <a:t>Refer to the PowerPoint Notes section of each slide for further detail on how to complete it</a:t>
            </a:r>
          </a:p>
          <a:p>
            <a:pPr>
              <a:lnSpc>
                <a:spcPct val="105000"/>
              </a:lnSpc>
              <a:spcAft>
                <a:spcPts val="500"/>
              </a:spcAft>
              <a:buNone/>
            </a:pPr>
            <a:r>
              <a:rPr lang="en-AU" sz="1200" b="1" dirty="0">
                <a:solidFill>
                  <a:srgbClr val="FF9E1B"/>
                </a:solidFill>
                <a:latin typeface="Arial"/>
              </a:rPr>
              <a:t>•  </a:t>
            </a:r>
            <a:r>
              <a:rPr lang="en-AU" sz="1200" dirty="0">
                <a:solidFill>
                  <a:srgbClr val="191919"/>
                </a:solidFill>
                <a:latin typeface="Arial"/>
              </a:rPr>
              <a:t>All packs must be submitted for review by Thursday for presentation at the following Monday’s Architecture Design Authority (ADA) meeting</a:t>
            </a:r>
          </a:p>
          <a:p>
            <a:pPr>
              <a:lnSpc>
                <a:spcPct val="105000"/>
              </a:lnSpc>
              <a:spcAft>
                <a:spcPts val="500"/>
              </a:spcAft>
              <a:buNone/>
            </a:pPr>
            <a:r>
              <a:rPr lang="en-AU" sz="1200" b="1" dirty="0">
                <a:solidFill>
                  <a:srgbClr val="FF9E1B"/>
                </a:solidFill>
                <a:latin typeface="Arial"/>
              </a:rPr>
              <a:t>•  </a:t>
            </a:r>
            <a:r>
              <a:rPr lang="en-AU" sz="1200" dirty="0">
                <a:solidFill>
                  <a:srgbClr val="191919"/>
                </a:solidFill>
                <a:latin typeface="Arial"/>
              </a:rPr>
              <a:t>All presentations must be endorsed by the Enterprise Architect for that business and / or technology area prior to submission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extBox 104"/>
          <p:cNvSpPr txBox="1"/>
          <p:nvPr/>
        </p:nvSpPr>
        <p:spPr>
          <a:xfrm>
            <a:off x="720000" y="1500000"/>
            <a:ext cx="10752000" cy="320000"/>
          </a:xfrm>
          <a:prstGeom prst="rect">
            <a:avLst/>
          </a:prstGeom>
          <a:noFill/>
        </p:spPr>
        <p:txBody>
          <a:bodyPr wrap="square" lIns="72000" tIns="36000" rIns="72000" bIns="36000">
            <a:norm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buNone/>
            </a:pPr>
            <a:r>
              <a:rPr lang="en-AU" sz="1100" b="1" dirty="0">
                <a:solidFill>
                  <a:srgbClr val="FF9E1B"/>
                </a:solidFill>
                <a:latin typeface="Arial"/>
              </a:rPr>
              <a:t>ARCHITECTURE DESIGN AUTHORITY</a:t>
            </a:r>
          </a:p>
        </p:txBody>
      </p:sp>
      <p:sp>
        <p:nvSpPr>
          <p:cNvPr id="105" name="TextBox 105"/>
          <p:cNvSpPr txBox="1"/>
          <p:nvPr/>
        </p:nvSpPr>
        <p:spPr>
          <a:xfrm>
            <a:off x="720000" y="1850000"/>
            <a:ext cx="10752000" cy="900000"/>
          </a:xfrm>
          <a:prstGeom prst="rect">
            <a:avLst/>
          </a:prstGeom>
          <a:noFill/>
        </p:spPr>
        <p:txBody>
          <a:bodyPr wrap="square" lIns="72000" tIns="36000" rIns="72000" bIns="36000">
            <a:norm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buNone/>
            </a:pPr>
            <a:r>
              <a:rPr lang="en-AU" sz="3200" b="1" dirty="0">
                <a:solidFill>
                  <a:srgbClr val="1B365D"/>
                </a:solidFill>
                <a:latin typeface="Gadugi"/>
              </a:rPr>
              <a:t>Architecture Design Review</a:t>
            </a:r>
          </a:p>
          <a:p>
            <a:pPr>
              <a:lnSpc>
                <a:spcPct val="105000"/>
              </a:lnSpc>
              <a:spcAft>
                <a:spcPts val="300"/>
              </a:spcAft>
              <a:buNone/>
            </a:pPr>
            <a:r>
              <a:rPr lang="en-AU" sz="1500" dirty="0">
                <a:solidFill>
                  <a:srgbClr val="003087"/>
                </a:solidFill>
                <a:latin typeface="Arial"/>
              </a:rPr>
              <a:t>&lt;Solution Name To Go Here&gt;  —  &lt;Project Name To Go Here&gt;</a:t>
            </a:r>
          </a:p>
        </p:txBody>
      </p:sp>
      <p:sp>
        <p:nvSpPr>
          <p:cNvPr id="106" name="TextBox 106"/>
          <p:cNvSpPr txBox="1"/>
          <p:nvPr/>
        </p:nvSpPr>
        <p:spPr>
          <a:xfrm>
            <a:off x="720000" y="3300000"/>
            <a:ext cx="5200000" cy="2400000"/>
          </a:xfrm>
          <a:prstGeom prst="rect">
            <a:avLst/>
          </a:prstGeom>
          <a:noFill/>
        </p:spPr>
        <p:txBody>
          <a:bodyPr wrap="square" lIns="72000" tIns="36000" rIns="72000" bIns="36000">
            <a:norm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buNone/>
            </a:pPr>
            <a:r>
              <a:rPr lang="en-AU" sz="1100" b="1" dirty="0">
                <a:solidFill>
                  <a:srgbClr val="1B365D"/>
                </a:solidFill>
                <a:latin typeface="Arial"/>
              </a:rPr>
              <a:t>Presenter: </a:t>
            </a:r>
            <a:r>
              <a:rPr lang="en-AU" sz="1100" dirty="0">
                <a:solidFill>
                  <a:srgbClr val="191919"/>
                </a:solidFill>
                <a:latin typeface="Arial"/>
              </a:rPr>
              <a:t>&lt;Presenter’s name&gt;</a:t>
            </a:r>
          </a:p>
          <a:p>
            <a:pPr>
              <a:lnSpc>
                <a:spcPct val="105000"/>
              </a:lnSpc>
              <a:spcAft>
                <a:spcPts val="300"/>
              </a:spcAft>
              <a:buNone/>
            </a:pPr>
            <a:r>
              <a:rPr lang="en-AU" sz="1100" b="1" dirty="0">
                <a:solidFill>
                  <a:srgbClr val="1B365D"/>
                </a:solidFill>
                <a:latin typeface="Arial"/>
              </a:rPr>
              <a:t>Supporting architect: </a:t>
            </a:r>
            <a:r>
              <a:rPr lang="en-AU" sz="1100" dirty="0">
                <a:solidFill>
                  <a:srgbClr val="191919"/>
                </a:solidFill>
                <a:latin typeface="Arial"/>
              </a:rPr>
              <a:t>&lt;Supporting architect’s name&gt;</a:t>
            </a:r>
          </a:p>
          <a:p>
            <a:pPr>
              <a:lnSpc>
                <a:spcPct val="105000"/>
              </a:lnSpc>
              <a:spcAft>
                <a:spcPts val="300"/>
              </a:spcAft>
              <a:buNone/>
            </a:pPr>
            <a:r>
              <a:rPr lang="en-AU" sz="1100" b="1" dirty="0">
                <a:solidFill>
                  <a:srgbClr val="1B365D"/>
                </a:solidFill>
                <a:latin typeface="Arial"/>
              </a:rPr>
              <a:t>Presentation date: </a:t>
            </a:r>
            <a:r>
              <a:rPr lang="en-AU" sz="1100" dirty="0">
                <a:solidFill>
                  <a:srgbClr val="191919"/>
                </a:solidFill>
                <a:latin typeface="Arial"/>
              </a:rPr>
              <a:t>&lt;00 MONTH YYYY&gt;</a:t>
            </a:r>
          </a:p>
          <a:p>
            <a:pPr>
              <a:lnSpc>
                <a:spcPct val="105000"/>
              </a:lnSpc>
              <a:spcAft>
                <a:spcPts val="300"/>
              </a:spcAft>
              <a:buNone/>
            </a:pPr>
            <a:r>
              <a:rPr lang="en-AU" sz="1100" b="1" dirty="0">
                <a:solidFill>
                  <a:srgbClr val="1B365D"/>
                </a:solidFill>
                <a:latin typeface="Arial"/>
              </a:rPr>
              <a:t>Presentation version: </a:t>
            </a:r>
            <a:r>
              <a:rPr lang="en-AU" sz="1100" dirty="0">
                <a:solidFill>
                  <a:srgbClr val="191919"/>
                </a:solidFill>
                <a:latin typeface="Arial"/>
              </a:rPr>
              <a:t>&lt;0.0&gt;</a:t>
            </a:r>
          </a:p>
        </p:txBody>
      </p:sp>
      <p:sp>
        <p:nvSpPr>
          <p:cNvPr id="107" name="TextBox 107"/>
          <p:cNvSpPr txBox="1"/>
          <p:nvPr/>
        </p:nvSpPr>
        <p:spPr>
          <a:xfrm>
            <a:off x="6200000" y="3300000"/>
            <a:ext cx="5200000" cy="2400000"/>
          </a:xfrm>
          <a:prstGeom prst="rect">
            <a:avLst/>
          </a:prstGeom>
          <a:noFill/>
        </p:spPr>
        <p:txBody>
          <a:bodyPr wrap="square" lIns="72000" tIns="36000" rIns="72000" bIns="36000">
            <a:norm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buNone/>
            </a:pPr>
            <a:r>
              <a:rPr lang="en-AU" sz="1100" b="1" dirty="0">
                <a:solidFill>
                  <a:srgbClr val="1B365D"/>
                </a:solidFill>
                <a:latin typeface="Arial"/>
              </a:rPr>
              <a:t>Presentation category: </a:t>
            </a:r>
            <a:r>
              <a:rPr lang="en-AU" sz="1100" dirty="0">
                <a:solidFill>
                  <a:srgbClr val="191919"/>
                </a:solidFill>
                <a:latin typeface="Arial"/>
              </a:rPr>
              <a:t>&lt;concept / high level design&gt;</a:t>
            </a:r>
          </a:p>
          <a:p>
            <a:pPr>
              <a:lnSpc>
                <a:spcPct val="105000"/>
              </a:lnSpc>
              <a:spcAft>
                <a:spcPts val="300"/>
              </a:spcAft>
              <a:buNone/>
            </a:pPr>
            <a:r>
              <a:rPr lang="en-AU" sz="1100" b="1" dirty="0">
                <a:solidFill>
                  <a:srgbClr val="1B365D"/>
                </a:solidFill>
                <a:latin typeface="Arial"/>
              </a:rPr>
              <a:t>Presentation seeking: </a:t>
            </a:r>
            <a:r>
              <a:rPr lang="en-AU" sz="1100" dirty="0">
                <a:solidFill>
                  <a:srgbClr val="191919"/>
                </a:solidFill>
                <a:latin typeface="Arial"/>
              </a:rPr>
              <a:t>&lt;information only / approval&gt;</a:t>
            </a:r>
          </a:p>
          <a:p>
            <a:pPr>
              <a:lnSpc>
                <a:spcPct val="105000"/>
              </a:lnSpc>
              <a:spcAft>
                <a:spcPts val="300"/>
              </a:spcAft>
              <a:buNone/>
            </a:pPr>
            <a:r>
              <a:rPr lang="en-AU" sz="1100" b="1" dirty="0">
                <a:solidFill>
                  <a:srgbClr val="1B365D"/>
                </a:solidFill>
                <a:latin typeface="Arial"/>
              </a:rPr>
              <a:t>Project stage: </a:t>
            </a:r>
            <a:r>
              <a:rPr lang="en-AU" sz="1100" dirty="0">
                <a:solidFill>
                  <a:srgbClr val="191919"/>
                </a:solidFill>
                <a:latin typeface="Arial"/>
              </a:rPr>
              <a:t>&lt;CONCEPT / INITIATE / PLAN / EXECUTE&gt;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Box 108"/>
          <p:cNvSpPr txBox="1"/>
          <p:nvPr/>
        </p:nvSpPr>
        <p:spPr>
          <a:xfrm>
            <a:off x="720000" y="520000"/>
            <a:ext cx="10752000" cy="300000"/>
          </a:xfrm>
          <a:prstGeom prst="rect">
            <a:avLst/>
          </a:prstGeom>
          <a:noFill/>
        </p:spPr>
        <p:txBody>
          <a:bodyPr wrap="square" lIns="72000" tIns="36000" rIns="72000" bIns="36000">
            <a:norm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buNone/>
            </a:pPr>
            <a:r>
              <a:rPr lang="en-AU" sz="1000" b="1" dirty="0">
                <a:solidFill>
                  <a:srgbClr val="FF9E1B"/>
                </a:solidFill>
                <a:latin typeface="Arial"/>
              </a:rPr>
              <a:t>ARCHITECTURE DESIGN REVIEW</a:t>
            </a:r>
          </a:p>
        </p:txBody>
      </p:sp>
      <p:sp>
        <p:nvSpPr>
          <p:cNvPr id="109" name="TextBox 109"/>
          <p:cNvSpPr txBox="1"/>
          <p:nvPr/>
        </p:nvSpPr>
        <p:spPr>
          <a:xfrm>
            <a:off x="720000" y="820000"/>
            <a:ext cx="10752000" cy="560000"/>
          </a:xfrm>
          <a:prstGeom prst="rect">
            <a:avLst/>
          </a:prstGeom>
          <a:noFill/>
        </p:spPr>
        <p:txBody>
          <a:bodyPr wrap="square" lIns="72000" tIns="36000" rIns="72000" bIns="36000">
            <a:norm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buNone/>
            </a:pPr>
            <a:r>
              <a:rPr lang="en-AU" sz="2000" b="1" dirty="0">
                <a:solidFill>
                  <a:srgbClr val="1B365D"/>
                </a:solidFill>
                <a:latin typeface="Gadugi"/>
              </a:rPr>
              <a:t>Project Overview</a:t>
            </a:r>
          </a:p>
        </p:txBody>
      </p:sp>
      <p:graphicFrame>
        <p:nvGraphicFramePr>
          <p:cNvPr id="110" name="Table 110"/>
          <p:cNvGraphicFramePr/>
          <p:nvPr/>
        </p:nvGraphicFramePr>
        <p:xfrm>
          <a:off x="720000" y="1600000"/>
          <a:ext cx="10752000" cy="2880360"/>
        </p:xfrm>
        <a:graphic>
          <a:graphicData uri="http://schemas.openxmlformats.org/drawingml/2006/table">
            <a:tbl>
              <a:tblPr firstRow="1" bandRow="1"/>
              <a:tblGrid>
                <a:gridCol w="2700000"/>
                <a:gridCol w="8052000"/>
              </a:tblGrid>
              <a:tr h="480060"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1100" b="1" dirty="0">
                          <a:solidFill>
                            <a:srgbClr val="191919"/>
                          </a:solidFill>
                          <a:latin typeface="Arial"/>
                        </a:rPr>
                        <a:t>Project name</a:t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1100" dirty="0">
                          <a:solidFill>
                            <a:srgbClr val="191919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1100" b="1" dirty="0">
                          <a:solidFill>
                            <a:srgbClr val="191919"/>
                          </a:solidFill>
                          <a:latin typeface="Arial"/>
                        </a:rPr>
                        <a:t>Business justification</a:t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1100" dirty="0">
                          <a:solidFill>
                            <a:srgbClr val="191919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F5F5F5"/>
                    </a:solidFill>
                  </a:tcPr>
                </a:tc>
              </a:tr>
              <a:tr h="480060"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1100" b="1" dirty="0">
                          <a:solidFill>
                            <a:srgbClr val="191919"/>
                          </a:solidFill>
                          <a:latin typeface="Arial"/>
                        </a:rPr>
                        <a:t>Business benefits</a:t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1100" dirty="0">
                          <a:solidFill>
                            <a:srgbClr val="191919"/>
                          </a:solidFill>
                          <a:latin typeface="Arial"/>
                        </a:rPr>
                        <a:t>Is this a benefit to the organisation?</a:t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1100" b="1" dirty="0">
                          <a:solidFill>
                            <a:srgbClr val="191919"/>
                          </a:solidFill>
                          <a:latin typeface="Arial"/>
                        </a:rPr>
                        <a:t>ROM costing</a:t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1100" dirty="0">
                          <a:solidFill>
                            <a:srgbClr val="191919"/>
                          </a:solidFill>
                          <a:latin typeface="Arial"/>
                        </a:rPr>
                        <a:t>$ 0.00 (CAPEX / OPEX, in dollars)</a:t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F5F5F5"/>
                    </a:solidFill>
                  </a:tcPr>
                </a:tc>
              </a:tr>
              <a:tr h="480060"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1100" b="1" dirty="0">
                          <a:solidFill>
                            <a:srgbClr val="191919"/>
                          </a:solidFill>
                          <a:latin typeface="Arial"/>
                        </a:rPr>
                        <a:t>Timeframe / duration</a:t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1100" dirty="0">
                          <a:solidFill>
                            <a:srgbClr val="191919"/>
                          </a:solidFill>
                          <a:latin typeface="Arial"/>
                        </a:rPr>
                        <a:t>In months</a:t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1100" b="1" dirty="0">
                          <a:solidFill>
                            <a:srgbClr val="191919"/>
                          </a:solidFill>
                          <a:latin typeface="Arial"/>
                        </a:rPr>
                        <a:t>Business owner</a:t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1100" dirty="0">
                          <a:solidFill>
                            <a:srgbClr val="191919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F5F5F5"/>
                    </a:solidFill>
                  </a:tcPr>
                </a:tc>
              </a:tr>
              <a:tr h="480060"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1100" b="1" dirty="0">
                          <a:solidFill>
                            <a:srgbClr val="191919"/>
                          </a:solidFill>
                          <a:latin typeface="Arial"/>
                        </a:rPr>
                        <a:t>IT owner</a:t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1100" dirty="0">
                          <a:solidFill>
                            <a:srgbClr val="191919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1100" b="1" dirty="0">
                          <a:solidFill>
                            <a:srgbClr val="191919"/>
                          </a:solidFill>
                          <a:latin typeface="Arial"/>
                        </a:rPr>
                        <a:t>CAR # / cost code</a:t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1100" dirty="0">
                          <a:solidFill>
                            <a:srgbClr val="191919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TextBox 111"/>
          <p:cNvSpPr txBox="1"/>
          <p:nvPr/>
        </p:nvSpPr>
        <p:spPr>
          <a:xfrm>
            <a:off x="720000" y="520000"/>
            <a:ext cx="10752000" cy="300000"/>
          </a:xfrm>
          <a:prstGeom prst="rect">
            <a:avLst/>
          </a:prstGeom>
          <a:noFill/>
        </p:spPr>
        <p:txBody>
          <a:bodyPr wrap="square" lIns="72000" tIns="36000" rIns="72000" bIns="36000">
            <a:norm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buNone/>
            </a:pPr>
            <a:r>
              <a:rPr lang="en-AU" sz="1000" b="1" dirty="0">
                <a:solidFill>
                  <a:srgbClr val="FF9E1B"/>
                </a:solidFill>
                <a:latin typeface="Arial"/>
              </a:rPr>
              <a:t>ARCHITECTURE DESIGN REVIEW</a:t>
            </a:r>
          </a:p>
        </p:txBody>
      </p:sp>
      <p:sp>
        <p:nvSpPr>
          <p:cNvPr id="112" name="TextBox 112"/>
          <p:cNvSpPr txBox="1"/>
          <p:nvPr/>
        </p:nvSpPr>
        <p:spPr>
          <a:xfrm>
            <a:off x="720000" y="820000"/>
            <a:ext cx="10752000" cy="560000"/>
          </a:xfrm>
          <a:prstGeom prst="rect">
            <a:avLst/>
          </a:prstGeom>
          <a:noFill/>
        </p:spPr>
        <p:txBody>
          <a:bodyPr wrap="square" lIns="72000" tIns="36000" rIns="72000" bIns="36000">
            <a:norm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buNone/>
            </a:pPr>
            <a:r>
              <a:rPr lang="en-AU" sz="2000" b="1" dirty="0">
                <a:solidFill>
                  <a:srgbClr val="1B365D"/>
                </a:solidFill>
                <a:latin typeface="Gadugi"/>
              </a:rPr>
              <a:t>Design overview: current vs proposed</a:t>
            </a:r>
          </a:p>
        </p:txBody>
      </p:sp>
      <p:sp>
        <p:nvSpPr>
          <p:cNvPr id="113" name="TextBox 113"/>
          <p:cNvSpPr txBox="1"/>
          <p:nvPr/>
        </p:nvSpPr>
        <p:spPr>
          <a:xfrm>
            <a:off x="720000" y="1600000"/>
            <a:ext cx="5250000" cy="4500000"/>
          </a:xfrm>
          <a:prstGeom prst="rect">
            <a:avLst/>
          </a:prstGeom>
          <a:solidFill>
            <a:srgbClr val="F5F5F5"/>
          </a:solidFill>
          <a:ln w="9525">
            <a:solidFill>
              <a:srgbClr val="D9D9D6"/>
            </a:solidFill>
            <a:prstDash val="dash"/>
          </a:ln>
        </p:spPr>
        <p:txBody>
          <a:bodyPr wrap="square" lIns="72000" tIns="36000" rIns="72000" bIns="36000" anchor="ctr">
            <a:norm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  <a:buNone/>
            </a:pPr>
            <a:r>
              <a:rPr lang="en-AU" sz="1300" b="1" dirty="0">
                <a:solidFill>
                  <a:srgbClr val="6B7280"/>
                </a:solidFill>
                <a:latin typeface="Gadugi"/>
              </a:rPr>
              <a:t>CURRENT state</a:t>
            </a:r>
          </a:p>
          <a:p>
            <a:pPr algn="ctr">
              <a:lnSpc>
                <a:spcPct val="105000"/>
              </a:lnSpc>
              <a:spcAft>
                <a:spcPts val="300"/>
              </a:spcAft>
              <a:buNone/>
            </a:pPr>
            <a:r>
              <a:rPr lang="en-AU" sz="1000" i="1" dirty="0">
                <a:solidFill>
                  <a:srgbClr val="6B7280"/>
                </a:solidFill>
                <a:latin typeface="Arial"/>
              </a:rPr>
              <a:t>Insert the as-is architecture diagram</a:t>
            </a:r>
          </a:p>
        </p:txBody>
      </p:sp>
      <p:sp>
        <p:nvSpPr>
          <p:cNvPr id="114" name="TextBox 114"/>
          <p:cNvSpPr txBox="1"/>
          <p:nvPr/>
        </p:nvSpPr>
        <p:spPr>
          <a:xfrm>
            <a:off x="6222000" y="1600000"/>
            <a:ext cx="5250000" cy="4500000"/>
          </a:xfrm>
          <a:prstGeom prst="rect">
            <a:avLst/>
          </a:prstGeom>
          <a:solidFill>
            <a:srgbClr val="F5F5F5"/>
          </a:solidFill>
          <a:ln w="9525">
            <a:solidFill>
              <a:srgbClr val="D9D9D6"/>
            </a:solidFill>
            <a:prstDash val="dash"/>
          </a:ln>
        </p:spPr>
        <p:txBody>
          <a:bodyPr wrap="square" lIns="72000" tIns="36000" rIns="72000" bIns="36000" anchor="ctr">
            <a:norm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  <a:buNone/>
            </a:pPr>
            <a:r>
              <a:rPr lang="en-AU" sz="1300" b="1" dirty="0">
                <a:solidFill>
                  <a:srgbClr val="6B7280"/>
                </a:solidFill>
                <a:latin typeface="Gadugi"/>
              </a:rPr>
              <a:t>PROPOSED state</a:t>
            </a:r>
          </a:p>
          <a:p>
            <a:pPr algn="ctr">
              <a:lnSpc>
                <a:spcPct val="105000"/>
              </a:lnSpc>
              <a:spcAft>
                <a:spcPts val="300"/>
              </a:spcAft>
              <a:buNone/>
            </a:pPr>
            <a:r>
              <a:rPr lang="en-AU" sz="1000" i="1" dirty="0">
                <a:solidFill>
                  <a:srgbClr val="6B7280"/>
                </a:solidFill>
                <a:latin typeface="Arial"/>
              </a:rPr>
              <a:t>Insert the to-be architecture diagram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TextBox 115"/>
          <p:cNvSpPr txBox="1"/>
          <p:nvPr/>
        </p:nvSpPr>
        <p:spPr>
          <a:xfrm>
            <a:off x="720000" y="520000"/>
            <a:ext cx="10752000" cy="300000"/>
          </a:xfrm>
          <a:prstGeom prst="rect">
            <a:avLst/>
          </a:prstGeom>
          <a:noFill/>
        </p:spPr>
        <p:txBody>
          <a:bodyPr wrap="square" lIns="72000" tIns="36000" rIns="72000" bIns="36000">
            <a:norm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buNone/>
            </a:pPr>
            <a:r>
              <a:rPr lang="en-AU" sz="1000" b="1" dirty="0">
                <a:solidFill>
                  <a:srgbClr val="FF9E1B"/>
                </a:solidFill>
                <a:latin typeface="Arial"/>
              </a:rPr>
              <a:t>ARCHITECTURE DESIGN REVIEW</a:t>
            </a:r>
          </a:p>
        </p:txBody>
      </p:sp>
      <p:sp>
        <p:nvSpPr>
          <p:cNvPr id="116" name="TextBox 116"/>
          <p:cNvSpPr txBox="1"/>
          <p:nvPr/>
        </p:nvSpPr>
        <p:spPr>
          <a:xfrm>
            <a:off x="720000" y="820000"/>
            <a:ext cx="10752000" cy="560000"/>
          </a:xfrm>
          <a:prstGeom prst="rect">
            <a:avLst/>
          </a:prstGeom>
          <a:noFill/>
        </p:spPr>
        <p:txBody>
          <a:bodyPr wrap="square" lIns="72000" tIns="36000" rIns="72000" bIns="36000">
            <a:norm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buNone/>
            </a:pPr>
            <a:r>
              <a:rPr lang="en-AU" sz="2000" b="1" dirty="0">
                <a:solidFill>
                  <a:srgbClr val="1B365D"/>
                </a:solidFill>
                <a:latin typeface="Gadugi"/>
              </a:rPr>
              <a:t>High Level Design</a:t>
            </a:r>
          </a:p>
        </p:txBody>
      </p:sp>
      <p:sp>
        <p:nvSpPr>
          <p:cNvPr id="117" name="TextBox 117"/>
          <p:cNvSpPr txBox="1"/>
          <p:nvPr/>
        </p:nvSpPr>
        <p:spPr>
          <a:xfrm>
            <a:off x="720000" y="1600000"/>
            <a:ext cx="7300000" cy="4500000"/>
          </a:xfrm>
          <a:prstGeom prst="rect">
            <a:avLst/>
          </a:prstGeom>
          <a:solidFill>
            <a:srgbClr val="F5F5F5"/>
          </a:solidFill>
          <a:ln w="9525">
            <a:solidFill>
              <a:srgbClr val="D9D9D6"/>
            </a:solidFill>
            <a:prstDash val="dash"/>
          </a:ln>
        </p:spPr>
        <p:txBody>
          <a:bodyPr wrap="square" lIns="72000" tIns="36000" rIns="72000" bIns="36000" anchor="ctr">
            <a:norm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  <a:buNone/>
            </a:pPr>
            <a:r>
              <a:rPr lang="en-AU" sz="1300" b="1" dirty="0">
                <a:solidFill>
                  <a:srgbClr val="6B7280"/>
                </a:solidFill>
                <a:latin typeface="Gadugi"/>
              </a:rPr>
              <a:t>Overview diagram</a:t>
            </a:r>
          </a:p>
          <a:p>
            <a:pPr algn="ctr">
              <a:lnSpc>
                <a:spcPct val="105000"/>
              </a:lnSpc>
              <a:spcAft>
                <a:spcPts val="300"/>
              </a:spcAft>
              <a:buNone/>
            </a:pPr>
            <a:r>
              <a:rPr lang="en-AU" sz="1000" i="1" dirty="0">
                <a:solidFill>
                  <a:srgbClr val="6B7280"/>
                </a:solidFill>
                <a:latin typeface="Arial"/>
              </a:rPr>
              <a:t>Insert the solution overview / system context diagram</a:t>
            </a:r>
          </a:p>
        </p:txBody>
      </p:sp>
      <p:sp>
        <p:nvSpPr>
          <p:cNvPr id="118" name="TextBox 118"/>
          <p:cNvSpPr txBox="1"/>
          <p:nvPr/>
        </p:nvSpPr>
        <p:spPr>
          <a:xfrm>
            <a:off x="8220000" y="1600000"/>
            <a:ext cx="3252000" cy="4500000"/>
          </a:xfrm>
          <a:prstGeom prst="rect">
            <a:avLst/>
          </a:prstGeom>
          <a:solidFill>
            <a:srgbClr val="F5F5F5"/>
          </a:solidFill>
        </p:spPr>
        <p:txBody>
          <a:bodyPr wrap="square" lIns="72000" tIns="36000" rIns="72000" bIns="36000">
            <a:norm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buNone/>
            </a:pPr>
            <a:r>
              <a:rPr lang="en-AU" sz="1200" b="1" dirty="0">
                <a:solidFill>
                  <a:srgbClr val="1B365D"/>
                </a:solidFill>
                <a:latin typeface="Arial"/>
              </a:rPr>
              <a:t>Overview:</a:t>
            </a:r>
          </a:p>
          <a:p>
            <a:pPr>
              <a:lnSpc>
                <a:spcPct val="105000"/>
              </a:lnSpc>
              <a:spcAft>
                <a:spcPts val="400"/>
              </a:spcAft>
              <a:buNone/>
            </a:pPr>
            <a:r>
              <a:rPr lang="en-AU" sz="1100" b="1" dirty="0">
                <a:solidFill>
                  <a:srgbClr val="FF9E1B"/>
                </a:solidFill>
                <a:latin typeface="Arial"/>
              </a:rPr>
              <a:t>•  </a:t>
            </a:r>
            <a:r>
              <a:rPr lang="en-AU" sz="1100" dirty="0">
                <a:solidFill>
                  <a:srgbClr val="191919"/>
                </a:solidFill>
                <a:latin typeface="Arial"/>
              </a:rPr>
              <a:t>System / component A</a:t>
            </a:r>
          </a:p>
          <a:p>
            <a:pPr>
              <a:lnSpc>
                <a:spcPct val="105000"/>
              </a:lnSpc>
              <a:spcAft>
                <a:spcPts val="400"/>
              </a:spcAft>
              <a:buNone/>
            </a:pPr>
            <a:r>
              <a:rPr lang="en-AU" sz="1100" b="1" dirty="0">
                <a:solidFill>
                  <a:srgbClr val="FF9E1B"/>
                </a:solidFill>
                <a:latin typeface="Arial"/>
              </a:rPr>
              <a:t>•  </a:t>
            </a:r>
            <a:r>
              <a:rPr lang="en-AU" sz="1100" dirty="0">
                <a:solidFill>
                  <a:srgbClr val="191919"/>
                </a:solidFill>
                <a:latin typeface="Arial"/>
              </a:rPr>
              <a:t>System / component B</a:t>
            </a:r>
          </a:p>
          <a:p>
            <a:pPr>
              <a:lnSpc>
                <a:spcPct val="105000"/>
              </a:lnSpc>
              <a:spcAft>
                <a:spcPts val="400"/>
              </a:spcAft>
              <a:buNone/>
            </a:pPr>
            <a:r>
              <a:rPr lang="en-AU" sz="1100" b="1" dirty="0">
                <a:solidFill>
                  <a:srgbClr val="FF9E1B"/>
                </a:solidFill>
                <a:latin typeface="Arial"/>
              </a:rPr>
              <a:t>•  </a:t>
            </a:r>
            <a:r>
              <a:rPr lang="en-AU" sz="1100" dirty="0">
                <a:solidFill>
                  <a:srgbClr val="191919"/>
                </a:solidFill>
                <a:latin typeface="Arial"/>
              </a:rPr>
              <a:t>System / component C</a:t>
            </a:r>
          </a:p>
          <a:p>
            <a:pPr>
              <a:lnSpc>
                <a:spcPct val="105000"/>
              </a:lnSpc>
              <a:spcAft>
                <a:spcPts val="400"/>
              </a:spcAft>
              <a:buNone/>
            </a:pPr>
            <a:r>
              <a:rPr lang="en-AU" sz="1100" b="1" dirty="0">
                <a:solidFill>
                  <a:srgbClr val="FF9E1B"/>
                </a:solidFill>
                <a:latin typeface="Arial"/>
              </a:rPr>
              <a:t>•  </a:t>
            </a:r>
            <a:r>
              <a:rPr lang="en-AU" sz="1100" dirty="0">
                <a:solidFill>
                  <a:srgbClr val="191919"/>
                </a:solidFill>
                <a:latin typeface="Arial"/>
              </a:rPr>
              <a:t>System / component D</a:t>
            </a:r>
          </a:p>
          <a:p>
            <a:pPr>
              <a:lnSpc>
                <a:spcPct val="105000"/>
              </a:lnSpc>
              <a:spcAft>
                <a:spcPts val="300"/>
              </a:spcAft>
              <a:buNone/>
            </a:pPr>
            <a:r>
              <a:rPr lang="en-AU" sz="1000" i="1" dirty="0">
                <a:solidFill>
                  <a:srgbClr val="6B7280"/>
                </a:solidFill>
                <a:latin typeface="Arial"/>
              </a:rPr>
              <a:t>Summarise the key components and what each contributes to the solution.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TextBox 119"/>
          <p:cNvSpPr txBox="1"/>
          <p:nvPr/>
        </p:nvSpPr>
        <p:spPr>
          <a:xfrm>
            <a:off x="720000" y="520000"/>
            <a:ext cx="10752000" cy="300000"/>
          </a:xfrm>
          <a:prstGeom prst="rect">
            <a:avLst/>
          </a:prstGeom>
          <a:noFill/>
        </p:spPr>
        <p:txBody>
          <a:bodyPr wrap="square" lIns="72000" tIns="36000" rIns="72000" bIns="36000">
            <a:norm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buNone/>
            </a:pPr>
            <a:r>
              <a:rPr lang="en-AU" sz="1000" b="1" dirty="0">
                <a:solidFill>
                  <a:srgbClr val="FF9E1B"/>
                </a:solidFill>
                <a:latin typeface="Arial"/>
              </a:rPr>
              <a:t>ARCHITECTURE DESIGN REVIEW</a:t>
            </a:r>
          </a:p>
        </p:txBody>
      </p:sp>
      <p:sp>
        <p:nvSpPr>
          <p:cNvPr id="120" name="TextBox 120"/>
          <p:cNvSpPr txBox="1"/>
          <p:nvPr/>
        </p:nvSpPr>
        <p:spPr>
          <a:xfrm>
            <a:off x="720000" y="820000"/>
            <a:ext cx="10752000" cy="560000"/>
          </a:xfrm>
          <a:prstGeom prst="rect">
            <a:avLst/>
          </a:prstGeom>
          <a:noFill/>
        </p:spPr>
        <p:txBody>
          <a:bodyPr wrap="square" lIns="72000" tIns="36000" rIns="72000" bIns="36000">
            <a:norm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buNone/>
            </a:pPr>
            <a:r>
              <a:rPr lang="en-AU" sz="2000" b="1" dirty="0">
                <a:solidFill>
                  <a:srgbClr val="1B365D"/>
                </a:solidFill>
                <a:latin typeface="Gadugi"/>
              </a:rPr>
              <a:t>Infrastructure Architecture</a:t>
            </a:r>
          </a:p>
        </p:txBody>
      </p:sp>
      <p:sp>
        <p:nvSpPr>
          <p:cNvPr id="121" name="TextBox 121"/>
          <p:cNvSpPr txBox="1"/>
          <p:nvPr/>
        </p:nvSpPr>
        <p:spPr>
          <a:xfrm>
            <a:off x="720000" y="1600000"/>
            <a:ext cx="10752000" cy="4500000"/>
          </a:xfrm>
          <a:prstGeom prst="rect">
            <a:avLst/>
          </a:prstGeom>
          <a:solidFill>
            <a:srgbClr val="F5F5F5"/>
          </a:solidFill>
          <a:ln w="9525">
            <a:solidFill>
              <a:srgbClr val="D9D9D6"/>
            </a:solidFill>
            <a:prstDash val="dash"/>
          </a:ln>
        </p:spPr>
        <p:txBody>
          <a:bodyPr wrap="square" lIns="72000" tIns="36000" rIns="72000" bIns="36000" anchor="ctr">
            <a:norm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  <a:buNone/>
            </a:pPr>
            <a:r>
              <a:rPr lang="en-AU" sz="1300" b="1" dirty="0">
                <a:solidFill>
                  <a:srgbClr val="6B7280"/>
                </a:solidFill>
                <a:latin typeface="Gadugi"/>
              </a:rPr>
              <a:t>Infrastructure architecture diagram</a:t>
            </a:r>
          </a:p>
          <a:p>
            <a:pPr algn="ctr">
              <a:lnSpc>
                <a:spcPct val="105000"/>
              </a:lnSpc>
              <a:spcAft>
                <a:spcPts val="300"/>
              </a:spcAft>
              <a:buNone/>
            </a:pPr>
            <a:r>
              <a:rPr lang="en-AU" sz="1000" i="1" dirty="0">
                <a:solidFill>
                  <a:srgbClr val="6B7280"/>
                </a:solidFill>
                <a:latin typeface="Arial"/>
              </a:rPr>
              <a:t>Hosting, network zones, environments, connectivity and egress paths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TextBox 122"/>
          <p:cNvSpPr txBox="1"/>
          <p:nvPr/>
        </p:nvSpPr>
        <p:spPr>
          <a:xfrm>
            <a:off x="720000" y="520000"/>
            <a:ext cx="10752000" cy="300000"/>
          </a:xfrm>
          <a:prstGeom prst="rect">
            <a:avLst/>
          </a:prstGeom>
          <a:noFill/>
        </p:spPr>
        <p:txBody>
          <a:bodyPr wrap="square" lIns="72000" tIns="36000" rIns="72000" bIns="36000">
            <a:norm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buNone/>
            </a:pPr>
            <a:r>
              <a:rPr lang="en-AU" sz="1000" b="1" dirty="0">
                <a:solidFill>
                  <a:srgbClr val="FF9E1B"/>
                </a:solidFill>
                <a:latin typeface="Arial"/>
              </a:rPr>
              <a:t>ARCHITECTURE DESIGN REVIEW</a:t>
            </a:r>
          </a:p>
        </p:txBody>
      </p:sp>
      <p:sp>
        <p:nvSpPr>
          <p:cNvPr id="123" name="TextBox 123"/>
          <p:cNvSpPr txBox="1"/>
          <p:nvPr/>
        </p:nvSpPr>
        <p:spPr>
          <a:xfrm>
            <a:off x="720000" y="820000"/>
            <a:ext cx="10752000" cy="560000"/>
          </a:xfrm>
          <a:prstGeom prst="rect">
            <a:avLst/>
          </a:prstGeom>
          <a:noFill/>
        </p:spPr>
        <p:txBody>
          <a:bodyPr wrap="square" lIns="72000" tIns="36000" rIns="72000" bIns="36000">
            <a:norm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buNone/>
            </a:pPr>
            <a:r>
              <a:rPr lang="en-AU" sz="2000" b="1" dirty="0">
                <a:solidFill>
                  <a:srgbClr val="1B365D"/>
                </a:solidFill>
                <a:latin typeface="Gadugi"/>
              </a:rPr>
              <a:t>Data Architecture</a:t>
            </a:r>
          </a:p>
        </p:txBody>
      </p:sp>
      <p:sp>
        <p:nvSpPr>
          <p:cNvPr id="124" name="TextBox 124"/>
          <p:cNvSpPr txBox="1"/>
          <p:nvPr/>
        </p:nvSpPr>
        <p:spPr>
          <a:xfrm>
            <a:off x="720000" y="1450000"/>
            <a:ext cx="10752000" cy="300000"/>
          </a:xfrm>
          <a:prstGeom prst="rect">
            <a:avLst/>
          </a:prstGeom>
          <a:noFill/>
        </p:spPr>
        <p:txBody>
          <a:bodyPr wrap="square" lIns="72000" tIns="36000" rIns="72000" bIns="36000">
            <a:norm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buNone/>
            </a:pPr>
            <a:r>
              <a:rPr lang="en-AU" sz="1050" i="1" dirty="0">
                <a:solidFill>
                  <a:srgbClr val="6B7280"/>
                </a:solidFill>
                <a:latin typeface="Arial"/>
              </a:rPr>
              <a:t>Questions to consider when reviewing a design from a data architecture perspective:</a:t>
            </a:r>
          </a:p>
        </p:txBody>
      </p:sp>
      <p:sp>
        <p:nvSpPr>
          <p:cNvPr id="125" name="TextBox 125"/>
          <p:cNvSpPr txBox="1"/>
          <p:nvPr/>
        </p:nvSpPr>
        <p:spPr>
          <a:xfrm>
            <a:off x="720000" y="1800000"/>
            <a:ext cx="5250000" cy="4600000"/>
          </a:xfrm>
          <a:prstGeom prst="rect">
            <a:avLst/>
          </a:prstGeom>
          <a:noFill/>
        </p:spPr>
        <p:txBody>
          <a:bodyPr wrap="square" lIns="72000" tIns="36000" rIns="72000" bIns="36000">
            <a:norm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  <a:buNone/>
            </a:pPr>
            <a:r>
              <a:rPr lang="en-AU" sz="1050" b="1" dirty="0">
                <a:solidFill>
                  <a:srgbClr val="1B365D"/>
                </a:solidFill>
                <a:latin typeface="Arial"/>
              </a:rPr>
              <a:t>1. Who / what is moving or changing the data?</a:t>
            </a:r>
          </a:p>
          <a:p>
            <a:pPr>
              <a:lnSpc>
                <a:spcPct val="105000"/>
              </a:lnSpc>
              <a:spcAft>
                <a:spcPts val="500"/>
              </a:spcAft>
              <a:buNone/>
            </a:pPr>
            <a:r>
              <a:rPr lang="en-AU" sz="1000" dirty="0">
                <a:solidFill>
                  <a:srgbClr val="191919"/>
                </a:solidFill>
                <a:latin typeface="Arial"/>
              </a:rPr>
              <a:t>From where to where? How is it being moved and how frequently? What data security is overlaid on this process? What are the components doing with the data (CRUD — Create / Read / Update / Delete)?</a:t>
            </a:r>
          </a:p>
          <a:p>
            <a:pPr>
              <a:lnSpc>
                <a:spcPct val="105000"/>
              </a:lnSpc>
              <a:spcAft>
                <a:spcPts val="100"/>
              </a:spcAft>
              <a:buNone/>
            </a:pPr>
            <a:r>
              <a:rPr lang="en-AU" sz="1050" b="1" dirty="0">
                <a:solidFill>
                  <a:srgbClr val="1B365D"/>
                </a:solidFill>
                <a:latin typeface="Arial"/>
              </a:rPr>
              <a:t>2. Who / what else will have access to the data?</a:t>
            </a:r>
          </a:p>
          <a:p>
            <a:pPr>
              <a:lnSpc>
                <a:spcPct val="105000"/>
              </a:lnSpc>
              <a:spcAft>
                <a:spcPts val="500"/>
              </a:spcAft>
              <a:buNone/>
            </a:pPr>
            <a:r>
              <a:rPr lang="en-AU" sz="1000" dirty="0">
                <a:solidFill>
                  <a:srgbClr val="191919"/>
                </a:solidFill>
                <a:latin typeface="Arial"/>
              </a:rPr>
              <a:t>How is it being accessed? What data security is overlaid on that access? What is this access doing with the data (CRUD)?</a:t>
            </a:r>
          </a:p>
          <a:p>
            <a:pPr>
              <a:lnSpc>
                <a:spcPct val="105000"/>
              </a:lnSpc>
              <a:spcAft>
                <a:spcPts val="100"/>
              </a:spcAft>
              <a:buNone/>
            </a:pPr>
            <a:r>
              <a:rPr lang="en-AU" sz="1050" b="1" dirty="0">
                <a:solidFill>
                  <a:srgbClr val="1B365D"/>
                </a:solidFill>
                <a:latin typeface="Arial"/>
              </a:rPr>
              <a:t>3. What data is in play?</a:t>
            </a:r>
          </a:p>
          <a:p>
            <a:pPr>
              <a:lnSpc>
                <a:spcPct val="105000"/>
              </a:lnSpc>
              <a:spcAft>
                <a:spcPts val="500"/>
              </a:spcAft>
              <a:buNone/>
            </a:pPr>
            <a:r>
              <a:rPr lang="en-AU" sz="1000" dirty="0">
                <a:solidFill>
                  <a:srgbClr val="191919"/>
                </a:solidFill>
                <a:latin typeface="Arial"/>
              </a:rPr>
              <a:t>Ideally capture data entities (groupings of attributes, e.g. participant address, device configuration); at minimum capture data subjects (groupings of entities, e.g. participant, employment services). What is the data security classification (OFFICIAL, OFFICIAL: Sensitive, etc.)?</a:t>
            </a:r>
          </a:p>
        </p:txBody>
      </p:sp>
      <p:sp>
        <p:nvSpPr>
          <p:cNvPr id="126" name="TextBox 126"/>
          <p:cNvSpPr txBox="1"/>
          <p:nvPr/>
        </p:nvSpPr>
        <p:spPr>
          <a:xfrm>
            <a:off x="6222000" y="1800000"/>
            <a:ext cx="5250000" cy="4600000"/>
          </a:xfrm>
          <a:prstGeom prst="rect">
            <a:avLst/>
          </a:prstGeom>
          <a:noFill/>
        </p:spPr>
        <p:txBody>
          <a:bodyPr wrap="square" lIns="72000" tIns="36000" rIns="72000" bIns="36000">
            <a:norm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  <a:buNone/>
            </a:pPr>
            <a:r>
              <a:rPr lang="en-AU" sz="1050" b="1" dirty="0">
                <a:solidFill>
                  <a:srgbClr val="1B365D"/>
                </a:solidFill>
                <a:latin typeface="Arial"/>
              </a:rPr>
              <a:t>4. Who / what currently depends on the data?</a:t>
            </a:r>
          </a:p>
          <a:p>
            <a:pPr>
              <a:lnSpc>
                <a:spcPct val="105000"/>
              </a:lnSpc>
              <a:spcAft>
                <a:spcPts val="500"/>
              </a:spcAft>
              <a:buNone/>
            </a:pPr>
            <a:r>
              <a:rPr lang="en-AU" sz="1000" dirty="0">
                <a:solidFill>
                  <a:srgbClr val="191919"/>
                </a:solidFill>
                <a:latin typeface="Arial"/>
              </a:rPr>
              <a:t>Will they / it be impacted by these changes? How is that impact being managed?</a:t>
            </a:r>
          </a:p>
          <a:p>
            <a:pPr>
              <a:lnSpc>
                <a:spcPct val="105000"/>
              </a:lnSpc>
              <a:spcAft>
                <a:spcPts val="100"/>
              </a:spcAft>
              <a:buNone/>
            </a:pPr>
            <a:r>
              <a:rPr lang="en-AU" sz="1050" b="1" dirty="0">
                <a:solidFill>
                  <a:srgbClr val="1B365D"/>
                </a:solidFill>
                <a:latin typeface="Arial"/>
              </a:rPr>
              <a:t>5. Are mass changes required in the data?</a:t>
            </a:r>
          </a:p>
          <a:p>
            <a:pPr>
              <a:lnSpc>
                <a:spcPct val="105000"/>
              </a:lnSpc>
              <a:spcAft>
                <a:spcPts val="500"/>
              </a:spcAft>
              <a:buNone/>
            </a:pPr>
            <a:r>
              <a:rPr lang="en-AU" sz="1000" dirty="0">
                <a:solidFill>
                  <a:srgbClr val="191919"/>
                </a:solidFill>
                <a:latin typeface="Arial"/>
              </a:rPr>
              <a:t>Who / what is impacted? Will the changes need to be sent anywhere else? Is a data migration solution required?</a:t>
            </a:r>
          </a:p>
          <a:p>
            <a:pPr>
              <a:lnSpc>
                <a:spcPct val="105000"/>
              </a:lnSpc>
              <a:spcAft>
                <a:spcPts val="100"/>
              </a:spcAft>
              <a:buNone/>
            </a:pPr>
            <a:r>
              <a:rPr lang="en-AU" sz="1050" b="1" dirty="0">
                <a:solidFill>
                  <a:srgbClr val="1B365D"/>
                </a:solidFill>
                <a:latin typeface="Arial"/>
              </a:rPr>
              <a:t>6. Are there reporting or analytical requirements?</a:t>
            </a:r>
          </a:p>
          <a:p>
            <a:pPr>
              <a:lnSpc>
                <a:spcPct val="105000"/>
              </a:lnSpc>
              <a:spcAft>
                <a:spcPts val="500"/>
              </a:spcAft>
              <a:buNone/>
            </a:pPr>
            <a:r>
              <a:rPr lang="en-AU" sz="1000" dirty="0">
                <a:solidFill>
                  <a:srgbClr val="191919"/>
                </a:solidFill>
                <a:latin typeface="Arial"/>
              </a:rPr>
              <a:t>If yes, how are they being delivered?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extBox 127"/>
          <p:cNvSpPr txBox="1"/>
          <p:nvPr/>
        </p:nvSpPr>
        <p:spPr>
          <a:xfrm>
            <a:off x="720000" y="520000"/>
            <a:ext cx="10752000" cy="300000"/>
          </a:xfrm>
          <a:prstGeom prst="rect">
            <a:avLst/>
          </a:prstGeom>
          <a:noFill/>
        </p:spPr>
        <p:txBody>
          <a:bodyPr wrap="square" lIns="72000" tIns="36000" rIns="72000" bIns="36000">
            <a:norm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buNone/>
            </a:pPr>
            <a:r>
              <a:rPr lang="en-AU" sz="1000" b="1" dirty="0">
                <a:solidFill>
                  <a:srgbClr val="FF9E1B"/>
                </a:solidFill>
                <a:latin typeface="Arial"/>
              </a:rPr>
              <a:t>ARCHITECTURE DESIGN REVIEW</a:t>
            </a:r>
          </a:p>
        </p:txBody>
      </p:sp>
      <p:sp>
        <p:nvSpPr>
          <p:cNvPr id="128" name="TextBox 128"/>
          <p:cNvSpPr txBox="1"/>
          <p:nvPr/>
        </p:nvSpPr>
        <p:spPr>
          <a:xfrm>
            <a:off x="720000" y="820000"/>
            <a:ext cx="10752000" cy="560000"/>
          </a:xfrm>
          <a:prstGeom prst="rect">
            <a:avLst/>
          </a:prstGeom>
          <a:noFill/>
        </p:spPr>
        <p:txBody>
          <a:bodyPr wrap="square" lIns="72000" tIns="36000" rIns="72000" bIns="36000">
            <a:norm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buNone/>
            </a:pPr>
            <a:r>
              <a:rPr lang="en-AU" sz="2000" b="1" dirty="0">
                <a:solidFill>
                  <a:srgbClr val="1B365D"/>
                </a:solidFill>
                <a:latin typeface="Gadugi"/>
              </a:rPr>
              <a:t>Monitoring / Observability Architecture</a:t>
            </a:r>
          </a:p>
        </p:txBody>
      </p:sp>
      <p:sp>
        <p:nvSpPr>
          <p:cNvPr id="129" name="TextBox 129"/>
          <p:cNvSpPr txBox="1"/>
          <p:nvPr/>
        </p:nvSpPr>
        <p:spPr>
          <a:xfrm>
            <a:off x="720000" y="1430000"/>
            <a:ext cx="10752000" cy="340000"/>
          </a:xfrm>
          <a:prstGeom prst="rect">
            <a:avLst/>
          </a:prstGeom>
          <a:noFill/>
        </p:spPr>
        <p:txBody>
          <a:bodyPr wrap="square" lIns="72000" tIns="36000" rIns="72000" bIns="36000">
            <a:norm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buNone/>
            </a:pPr>
            <a:r>
              <a:rPr lang="en-AU" sz="1000" i="1" dirty="0">
                <a:solidFill>
                  <a:srgbClr val="6B7280"/>
                </a:solidFill>
                <a:latin typeface="Arial"/>
              </a:rPr>
              <a:t>Purpose: ensure the design provides suitable monitoring / observability to predict, detect and notify of issues across infrastructure, interfaces, applications / services, transactions and user experience.</a:t>
            </a:r>
          </a:p>
        </p:txBody>
      </p:sp>
      <p:graphicFrame>
        <p:nvGraphicFramePr>
          <p:cNvPr id="130" name="Table 130"/>
          <p:cNvGraphicFramePr/>
          <p:nvPr/>
        </p:nvGraphicFramePr>
        <p:xfrm>
          <a:off x="720000" y="1850000"/>
          <a:ext cx="10752000" cy="2240280"/>
        </p:xfrm>
        <a:graphic>
          <a:graphicData uri="http://schemas.openxmlformats.org/drawingml/2006/table">
            <a:tbl>
              <a:tblPr firstRow="1" bandRow="1"/>
              <a:tblGrid>
                <a:gridCol w="2300000"/>
                <a:gridCol w="1900000"/>
                <a:gridCol w="2400000"/>
                <a:gridCol w="1500000"/>
                <a:gridCol w="1300000"/>
                <a:gridCol w="1352000"/>
              </a:tblGrid>
              <a:tr h="320040"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900" b="1" dirty="0">
                          <a:solidFill>
                            <a:srgbClr val="FFFFFF"/>
                          </a:solidFill>
                          <a:latin typeface="Arial"/>
                        </a:rPr>
                        <a:t>Solution component</a:t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900" b="1" dirty="0">
                          <a:solidFill>
                            <a:srgbClr val="FFFFFF"/>
                          </a:solidFill>
                          <a:latin typeface="Arial"/>
                        </a:rPr>
                        <a:t>Monitoring tool</a:t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900" b="1" dirty="0">
                          <a:solidFill>
                            <a:srgbClr val="FFFFFF"/>
                          </a:solidFill>
                          <a:latin typeface="Arial"/>
                        </a:rPr>
                        <a:t>Type of monitoring</a:t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900" b="1" dirty="0">
                          <a:solidFill>
                            <a:srgbClr val="FFFFFF"/>
                          </a:solidFill>
                          <a:latin typeface="Arial"/>
                        </a:rPr>
                        <a:t>Environment</a:t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900" b="1" dirty="0">
                          <a:solidFill>
                            <a:srgbClr val="FFFFFF"/>
                          </a:solidFill>
                          <a:latin typeface="Arial"/>
                        </a:rPr>
                        <a:t>Licensing</a:t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900" b="1" dirty="0">
                          <a:solidFill>
                            <a:srgbClr val="FFFFFF"/>
                          </a:solidFill>
                          <a:latin typeface="Arial"/>
                        </a:rPr>
                        <a:t>Outcome</a:t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1B365D"/>
                    </a:solidFill>
                  </a:tcPr>
                </a:tc>
              </a:tr>
              <a:tr h="400050"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900" dirty="0">
                          <a:solidFill>
                            <a:srgbClr val="191919"/>
                          </a:solidFill>
                          <a:latin typeface="Arial"/>
                        </a:rPr>
                        <a:t>Server / host infrastructure</a:t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900" dirty="0">
                          <a:solidFill>
                            <a:srgbClr val="191919"/>
                          </a:solidFill>
                          <a:latin typeface="Arial"/>
                        </a:rPr>
                        <a:t>e.g. Azure Monitor</a:t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900" dirty="0">
                          <a:solidFill>
                            <a:srgbClr val="191919"/>
                          </a:solidFill>
                          <a:latin typeface="Arial"/>
                        </a:rPr>
                        <a:t>Infrastructure</a:t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900" dirty="0">
                          <a:solidFill>
                            <a:srgbClr val="191919"/>
                          </a:solidFill>
                          <a:latin typeface="Arial"/>
                        </a:rPr>
                        <a:t>Prod, UAT</a:t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900" dirty="0">
                          <a:solidFill>
                            <a:srgbClr val="191919"/>
                          </a:solidFill>
                          <a:latin typeface="Arial"/>
                        </a:rPr>
                        <a:t>Covered</a:t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900" dirty="0">
                          <a:solidFill>
                            <a:srgbClr val="191919"/>
                          </a:solidFill>
                          <a:latin typeface="Arial"/>
                        </a:rPr>
                        <a:t>All-inclusive</a:t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900" dirty="0">
                          <a:solidFill>
                            <a:srgbClr val="191919"/>
                          </a:solidFill>
                          <a:latin typeface="Arial"/>
                        </a:rPr>
                        <a:t>Database</a:t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900" dirty="0">
                          <a:solidFill>
                            <a:srgbClr val="191919"/>
                          </a:solidFill>
                          <a:latin typeface="Arial"/>
                        </a:rPr>
                        <a:t>e.g. Azure SQL insights</a:t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900" dirty="0">
                          <a:solidFill>
                            <a:srgbClr val="191919"/>
                          </a:solidFill>
                          <a:latin typeface="Arial"/>
                        </a:rPr>
                        <a:t>Application, transactional</a:t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900" dirty="0">
                          <a:solidFill>
                            <a:srgbClr val="191919"/>
                          </a:solidFill>
                          <a:latin typeface="Arial"/>
                        </a:rPr>
                        <a:t>Prod, UAT</a:t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900" dirty="0">
                          <a:solidFill>
                            <a:srgbClr val="191919"/>
                          </a:solidFill>
                          <a:latin typeface="Arial"/>
                        </a:rPr>
                        <a:t>Covered</a:t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900" dirty="0">
                          <a:solidFill>
                            <a:srgbClr val="191919"/>
                          </a:solidFill>
                          <a:latin typeface="Arial"/>
                        </a:rPr>
                        <a:t>Availability, performance</a:t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F5F5F5"/>
                    </a:solidFill>
                  </a:tcPr>
                </a:tc>
              </a:tr>
              <a:tr h="400050"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900" dirty="0">
                          <a:solidFill>
                            <a:srgbClr val="191919"/>
                          </a:solidFill>
                          <a:latin typeface="Arial"/>
                        </a:rPr>
                        <a:t>Network / security</a:t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900" dirty="0">
                          <a:solidFill>
                            <a:srgbClr val="191919"/>
                          </a:solidFill>
                          <a:latin typeface="Arial"/>
                        </a:rPr>
                        <a:t>e.g. Meraki, firewall, SIEM dashboards</a:t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900" dirty="0">
                          <a:solidFill>
                            <a:srgbClr val="191919"/>
                          </a:solidFill>
                          <a:latin typeface="Arial"/>
                        </a:rPr>
                        <a:t>Infrastructure, security</a:t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900" dirty="0">
                          <a:solidFill>
                            <a:srgbClr val="191919"/>
                          </a:solidFill>
                          <a:latin typeface="Arial"/>
                        </a:rPr>
                        <a:t>Prod, UAT</a:t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900" dirty="0">
                          <a:solidFill>
                            <a:srgbClr val="191919"/>
                          </a:solidFill>
                          <a:latin typeface="Arial"/>
                        </a:rPr>
                        <a:t>Covered</a:t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900" dirty="0">
                          <a:solidFill>
                            <a:srgbClr val="191919"/>
                          </a:solidFill>
                          <a:latin typeface="Arial"/>
                        </a:rPr>
                        <a:t>Security</a:t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900" dirty="0">
                          <a:solidFill>
                            <a:srgbClr val="191919"/>
                          </a:solidFill>
                          <a:latin typeface="Arial"/>
                        </a:rPr>
                        <a:t>Application interfaces / APIs</a:t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900" dirty="0">
                          <a:solidFill>
                            <a:srgbClr val="191919"/>
                          </a:solidFill>
                          <a:latin typeface="Arial"/>
                        </a:rPr>
                        <a:t>e.g. Application Insights</a:t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900" dirty="0">
                          <a:solidFill>
                            <a:srgbClr val="191919"/>
                          </a:solidFill>
                          <a:latin typeface="Arial"/>
                        </a:rPr>
                        <a:t>Application, transactional</a:t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900" dirty="0">
                          <a:solidFill>
                            <a:srgbClr val="191919"/>
                          </a:solidFill>
                          <a:latin typeface="Arial"/>
                        </a:rPr>
                        <a:t>Prod, UAT</a:t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900" dirty="0">
                          <a:solidFill>
                            <a:srgbClr val="191919"/>
                          </a:solidFill>
                          <a:latin typeface="Arial"/>
                        </a:rPr>
                        <a:t>Covered</a:t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900" dirty="0">
                          <a:solidFill>
                            <a:srgbClr val="191919"/>
                          </a:solidFill>
                          <a:latin typeface="Arial"/>
                        </a:rPr>
                        <a:t>Performance</a:t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F5F5F5"/>
                    </a:solidFill>
                  </a:tcPr>
                </a:tc>
              </a:tr>
              <a:tr h="400050"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900" dirty="0">
                          <a:solidFill>
                            <a:srgbClr val="191919"/>
                          </a:solidFill>
                          <a:latin typeface="Arial"/>
                        </a:rPr>
                        <a:t>SaaS components</a:t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900" dirty="0">
                          <a:solidFill>
                            <a:srgbClr val="191919"/>
                          </a:solidFill>
                          <a:latin typeface="Arial"/>
                        </a:rPr>
                        <a:t>Vendor provided</a:t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900" dirty="0">
                          <a:solidFill>
                            <a:srgbClr val="191919"/>
                          </a:solidFill>
                          <a:latin typeface="Arial"/>
                        </a:rPr>
                        <a:t>Application, transactional</a:t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900" dirty="0">
                          <a:solidFill>
                            <a:srgbClr val="191919"/>
                          </a:solidFill>
                          <a:latin typeface="Arial"/>
                        </a:rPr>
                        <a:t>Prod</a:t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900" dirty="0">
                          <a:solidFill>
                            <a:srgbClr val="191919"/>
                          </a:solidFill>
                          <a:latin typeface="Arial"/>
                        </a:rPr>
                        <a:t>Covered</a:t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900" dirty="0">
                          <a:solidFill>
                            <a:srgbClr val="191919"/>
                          </a:solidFill>
                          <a:latin typeface="Arial"/>
                        </a:rPr>
                        <a:t>Availability</a:t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900" dirty="0">
                          <a:solidFill>
                            <a:srgbClr val="191919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900" dirty="0">
                          <a:solidFill>
                            <a:srgbClr val="191919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900" dirty="0">
                          <a:solidFill>
                            <a:srgbClr val="191919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900" dirty="0">
                          <a:solidFill>
                            <a:srgbClr val="191919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900" dirty="0">
                          <a:solidFill>
                            <a:srgbClr val="191919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900" dirty="0">
                          <a:solidFill>
                            <a:srgbClr val="191919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TextBox 131"/>
          <p:cNvSpPr txBox="1"/>
          <p:nvPr/>
        </p:nvSpPr>
        <p:spPr>
          <a:xfrm>
            <a:off x="720000" y="520000"/>
            <a:ext cx="10752000" cy="300000"/>
          </a:xfrm>
          <a:prstGeom prst="rect">
            <a:avLst/>
          </a:prstGeom>
          <a:noFill/>
        </p:spPr>
        <p:txBody>
          <a:bodyPr wrap="square" lIns="72000" tIns="36000" rIns="72000" bIns="36000">
            <a:norm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buNone/>
            </a:pPr>
            <a:r>
              <a:rPr lang="en-AU" sz="1000" b="1" dirty="0">
                <a:solidFill>
                  <a:srgbClr val="FF9E1B"/>
                </a:solidFill>
                <a:latin typeface="Arial"/>
              </a:rPr>
              <a:t>ARCHITECTURE DESIGN REVIEW</a:t>
            </a:r>
          </a:p>
        </p:txBody>
      </p:sp>
      <p:sp>
        <p:nvSpPr>
          <p:cNvPr id="132" name="TextBox 132"/>
          <p:cNvSpPr txBox="1"/>
          <p:nvPr/>
        </p:nvSpPr>
        <p:spPr>
          <a:xfrm>
            <a:off x="720000" y="820000"/>
            <a:ext cx="10752000" cy="560000"/>
          </a:xfrm>
          <a:prstGeom prst="rect">
            <a:avLst/>
          </a:prstGeom>
          <a:noFill/>
        </p:spPr>
        <p:txBody>
          <a:bodyPr wrap="square" lIns="72000" tIns="36000" rIns="72000" bIns="36000">
            <a:norm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buNone/>
            </a:pPr>
            <a:r>
              <a:rPr lang="en-AU" sz="2000" b="1" dirty="0">
                <a:solidFill>
                  <a:srgbClr val="1B365D"/>
                </a:solidFill>
                <a:latin typeface="Gadugi"/>
              </a:rPr>
              <a:t>Architectural Decisions</a:t>
            </a:r>
          </a:p>
        </p:txBody>
      </p:sp>
      <p:graphicFrame>
        <p:nvGraphicFramePr>
          <p:cNvPr id="133" name="Table 133"/>
          <p:cNvGraphicFramePr/>
          <p:nvPr/>
        </p:nvGraphicFramePr>
        <p:xfrm>
          <a:off x="720000" y="1600000"/>
          <a:ext cx="10752000" cy="1600200"/>
        </p:xfrm>
        <a:graphic>
          <a:graphicData uri="http://schemas.openxmlformats.org/drawingml/2006/table">
            <a:tbl>
              <a:tblPr firstRow="1" bandRow="1"/>
              <a:tblGrid>
                <a:gridCol w="5376000"/>
                <a:gridCol w="5376000"/>
              </a:tblGrid>
              <a:tr h="320040"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1000" b="1" dirty="0">
                          <a:solidFill>
                            <a:srgbClr val="FFFFFF"/>
                          </a:solidFill>
                          <a:latin typeface="Arial"/>
                        </a:rPr>
                        <a:t>Decision</a:t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1000" b="1" dirty="0">
                          <a:solidFill>
                            <a:srgbClr val="FFFFFF"/>
                          </a:solidFill>
                          <a:latin typeface="Arial"/>
                        </a:rPr>
                        <a:t>Implication</a:t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1B365D"/>
                    </a:solidFill>
                  </a:tcPr>
                </a:tc>
              </a:tr>
              <a:tr h="520065"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1050" dirty="0">
                          <a:solidFill>
                            <a:srgbClr val="191919"/>
                          </a:solidFill>
                          <a:latin typeface="Arial"/>
                        </a:rPr>
                        <a:t>Example — session data is ephemeral; wiped at sign-out</a:t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1050" dirty="0">
                          <a:solidFill>
                            <a:srgbClr val="191919"/>
                          </a:solidFill>
                          <a:latin typeface="Arial"/>
                        </a:rPr>
                        <a:t>Users must save work externally before ending a session</a:t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1050" dirty="0">
                          <a:solidFill>
                            <a:srgbClr val="191919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1050" dirty="0">
                          <a:solidFill>
                            <a:srgbClr val="191919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F5F5F5"/>
                    </a:solidFill>
                  </a:tcPr>
                </a:tc>
              </a:tr>
              <a:tr h="520065"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1050" dirty="0">
                          <a:solidFill>
                            <a:srgbClr val="191919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1050" dirty="0">
                          <a:solidFill>
                            <a:srgbClr val="191919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1050" dirty="0">
                          <a:solidFill>
                            <a:srgbClr val="191919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1050" dirty="0">
                          <a:solidFill>
                            <a:srgbClr val="191919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TextBox 134"/>
          <p:cNvSpPr txBox="1"/>
          <p:nvPr/>
        </p:nvSpPr>
        <p:spPr>
          <a:xfrm>
            <a:off x="720000" y="520000"/>
            <a:ext cx="10752000" cy="300000"/>
          </a:xfrm>
          <a:prstGeom prst="rect">
            <a:avLst/>
          </a:prstGeom>
          <a:noFill/>
        </p:spPr>
        <p:txBody>
          <a:bodyPr wrap="square" lIns="72000" tIns="36000" rIns="72000" bIns="36000">
            <a:norm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buNone/>
            </a:pPr>
            <a:r>
              <a:rPr lang="en-AU" sz="1000" b="1" dirty="0">
                <a:solidFill>
                  <a:srgbClr val="FF9E1B"/>
                </a:solidFill>
                <a:latin typeface="Arial"/>
              </a:rPr>
              <a:t>ARCHITECTURE DESIGN REVIEW</a:t>
            </a:r>
          </a:p>
        </p:txBody>
      </p:sp>
      <p:sp>
        <p:nvSpPr>
          <p:cNvPr id="135" name="TextBox 135"/>
          <p:cNvSpPr txBox="1"/>
          <p:nvPr/>
        </p:nvSpPr>
        <p:spPr>
          <a:xfrm>
            <a:off x="720000" y="820000"/>
            <a:ext cx="10752000" cy="560000"/>
          </a:xfrm>
          <a:prstGeom prst="rect">
            <a:avLst/>
          </a:prstGeom>
          <a:noFill/>
        </p:spPr>
        <p:txBody>
          <a:bodyPr wrap="square" lIns="72000" tIns="36000" rIns="72000" bIns="36000">
            <a:norm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buNone/>
            </a:pPr>
            <a:r>
              <a:rPr lang="en-AU" sz="2000" b="1" dirty="0">
                <a:solidFill>
                  <a:srgbClr val="1B365D"/>
                </a:solidFill>
                <a:latin typeface="Gadugi"/>
              </a:rPr>
              <a:t>Architectural Issues &amp; Risks</a:t>
            </a:r>
          </a:p>
        </p:txBody>
      </p:sp>
      <p:graphicFrame>
        <p:nvGraphicFramePr>
          <p:cNvPr id="136" name="Table 136"/>
          <p:cNvGraphicFramePr/>
          <p:nvPr/>
        </p:nvGraphicFramePr>
        <p:xfrm>
          <a:off x="720000" y="1550000"/>
          <a:ext cx="10752000" cy="960120"/>
        </p:xfrm>
        <a:graphic>
          <a:graphicData uri="http://schemas.openxmlformats.org/drawingml/2006/table">
            <a:tbl>
              <a:tblPr firstRow="1" bandRow="1"/>
              <a:tblGrid>
                <a:gridCol w="5376000"/>
                <a:gridCol w="5376000"/>
              </a:tblGrid>
              <a:tr h="320040"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1000" b="1" dirty="0">
                          <a:solidFill>
                            <a:srgbClr val="FFFFFF"/>
                          </a:solidFill>
                          <a:latin typeface="Arial"/>
                        </a:rPr>
                        <a:t>Issue</a:t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1000" b="1" dirty="0">
                          <a:solidFill>
                            <a:srgbClr val="FFFFFF"/>
                          </a:solidFill>
                          <a:latin typeface="Arial"/>
                        </a:rPr>
                        <a:t>Proposed resolution</a:t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1B365D"/>
                    </a:solidFill>
                  </a:tcPr>
                </a:tc>
              </a:tr>
              <a:tr h="440055"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1000" dirty="0">
                          <a:solidFill>
                            <a:srgbClr val="191919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1000" dirty="0">
                          <a:solidFill>
                            <a:srgbClr val="191919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40055"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1000" dirty="0">
                          <a:solidFill>
                            <a:srgbClr val="191919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1000" dirty="0">
                          <a:solidFill>
                            <a:srgbClr val="191919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7" name="Table 137"/>
          <p:cNvGraphicFramePr/>
          <p:nvPr/>
        </p:nvGraphicFramePr>
        <p:xfrm>
          <a:off x="720000" y="3600000"/>
          <a:ext cx="10752000" cy="960120"/>
        </p:xfrm>
        <a:graphic>
          <a:graphicData uri="http://schemas.openxmlformats.org/drawingml/2006/table">
            <a:tbl>
              <a:tblPr firstRow="1" bandRow="1"/>
              <a:tblGrid>
                <a:gridCol w="5376000"/>
                <a:gridCol w="5376000"/>
              </a:tblGrid>
              <a:tr h="320040"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1000" b="1" dirty="0">
                          <a:solidFill>
                            <a:srgbClr val="FFFFFF"/>
                          </a:solidFill>
                          <a:latin typeface="Arial"/>
                        </a:rPr>
                        <a:t>Risk</a:t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1000" b="1" dirty="0">
                          <a:solidFill>
                            <a:srgbClr val="FFFFFF"/>
                          </a:solidFill>
                          <a:latin typeface="Arial"/>
                        </a:rPr>
                        <a:t>Mitigation</a:t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1B365D"/>
                    </a:solidFill>
                  </a:tcPr>
                </a:tc>
              </a:tr>
              <a:tr h="440055"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1000" dirty="0">
                          <a:solidFill>
                            <a:srgbClr val="191919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1000" dirty="0">
                          <a:solidFill>
                            <a:srgbClr val="191919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40055"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1000" dirty="0">
                          <a:solidFill>
                            <a:srgbClr val="191919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1000" dirty="0">
                          <a:solidFill>
                            <a:srgbClr val="191919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extBox 138"/>
          <p:cNvSpPr txBox="1"/>
          <p:nvPr/>
        </p:nvSpPr>
        <p:spPr>
          <a:xfrm>
            <a:off x="720000" y="520000"/>
            <a:ext cx="10752000" cy="300000"/>
          </a:xfrm>
          <a:prstGeom prst="rect">
            <a:avLst/>
          </a:prstGeom>
          <a:noFill/>
        </p:spPr>
        <p:txBody>
          <a:bodyPr wrap="square" lIns="72000" tIns="36000" rIns="72000" bIns="36000">
            <a:norm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buNone/>
            </a:pPr>
            <a:r>
              <a:rPr lang="en-AU" sz="1000" b="1" dirty="0">
                <a:solidFill>
                  <a:srgbClr val="FF9E1B"/>
                </a:solidFill>
                <a:latin typeface="Arial"/>
              </a:rPr>
              <a:t>ARCHITECTURE DESIGN REVIEW</a:t>
            </a:r>
          </a:p>
        </p:txBody>
      </p:sp>
      <p:sp>
        <p:nvSpPr>
          <p:cNvPr id="139" name="TextBox 139"/>
          <p:cNvSpPr txBox="1"/>
          <p:nvPr/>
        </p:nvSpPr>
        <p:spPr>
          <a:xfrm>
            <a:off x="720000" y="820000"/>
            <a:ext cx="10752000" cy="560000"/>
          </a:xfrm>
          <a:prstGeom prst="rect">
            <a:avLst/>
          </a:prstGeom>
          <a:noFill/>
        </p:spPr>
        <p:txBody>
          <a:bodyPr wrap="square" lIns="72000" tIns="36000" rIns="72000" bIns="36000">
            <a:norm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buNone/>
            </a:pPr>
            <a:r>
              <a:rPr lang="en-AU" sz="2000" b="1" dirty="0">
                <a:solidFill>
                  <a:srgbClr val="1B365D"/>
                </a:solidFill>
                <a:latin typeface="Gadugi"/>
              </a:rPr>
              <a:t>Architectural Assumptions</a:t>
            </a:r>
          </a:p>
        </p:txBody>
      </p:sp>
      <p:graphicFrame>
        <p:nvGraphicFramePr>
          <p:cNvPr id="140" name="Table 140"/>
          <p:cNvGraphicFramePr/>
          <p:nvPr/>
        </p:nvGraphicFramePr>
        <p:xfrm>
          <a:off x="720000" y="1600000"/>
          <a:ext cx="10752000" cy="1600200"/>
        </p:xfrm>
        <a:graphic>
          <a:graphicData uri="http://schemas.openxmlformats.org/drawingml/2006/table">
            <a:tbl>
              <a:tblPr firstRow="1" bandRow="1"/>
              <a:tblGrid>
                <a:gridCol w="5376000"/>
                <a:gridCol w="5376000"/>
              </a:tblGrid>
              <a:tr h="320040"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1000" b="1" dirty="0">
                          <a:solidFill>
                            <a:srgbClr val="FFFFFF"/>
                          </a:solidFill>
                          <a:latin typeface="Arial"/>
                        </a:rPr>
                        <a:t>Assumption</a:t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1000" b="1" dirty="0">
                          <a:solidFill>
                            <a:srgbClr val="FFFFFF"/>
                          </a:solidFill>
                          <a:latin typeface="Arial"/>
                        </a:rPr>
                        <a:t>Impact if false</a:t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1B365D"/>
                    </a:solidFill>
                  </a:tcPr>
                </a:tc>
              </a:tr>
              <a:tr h="520065"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1050" dirty="0">
                          <a:solidFill>
                            <a:srgbClr val="191919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1050" dirty="0">
                          <a:solidFill>
                            <a:srgbClr val="191919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1050" dirty="0">
                          <a:solidFill>
                            <a:srgbClr val="191919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1050" dirty="0">
                          <a:solidFill>
                            <a:srgbClr val="191919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F5F5F5"/>
                    </a:solidFill>
                  </a:tcPr>
                </a:tc>
              </a:tr>
              <a:tr h="520065"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1050" dirty="0">
                          <a:solidFill>
                            <a:srgbClr val="191919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1050" dirty="0">
                          <a:solidFill>
                            <a:srgbClr val="191919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1050" dirty="0">
                          <a:solidFill>
                            <a:srgbClr val="191919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1050" dirty="0">
                          <a:solidFill>
                            <a:srgbClr val="191919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TextBox 141"/>
          <p:cNvSpPr txBox="1"/>
          <p:nvPr/>
        </p:nvSpPr>
        <p:spPr>
          <a:xfrm>
            <a:off x="720000" y="520000"/>
            <a:ext cx="10752000" cy="300000"/>
          </a:xfrm>
          <a:prstGeom prst="rect">
            <a:avLst/>
          </a:prstGeom>
          <a:noFill/>
        </p:spPr>
        <p:txBody>
          <a:bodyPr wrap="square" lIns="72000" tIns="36000" rIns="72000" bIns="36000">
            <a:norm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buNone/>
            </a:pPr>
            <a:r>
              <a:rPr lang="en-AU" sz="1000" b="1" dirty="0">
                <a:solidFill>
                  <a:srgbClr val="FF9E1B"/>
                </a:solidFill>
                <a:latin typeface="Arial"/>
              </a:rPr>
              <a:t>ARCHITECTURE DESIGN REVIEW</a:t>
            </a:r>
          </a:p>
        </p:txBody>
      </p:sp>
      <p:sp>
        <p:nvSpPr>
          <p:cNvPr id="142" name="TextBox 142"/>
          <p:cNvSpPr txBox="1"/>
          <p:nvPr/>
        </p:nvSpPr>
        <p:spPr>
          <a:xfrm>
            <a:off x="720000" y="820000"/>
            <a:ext cx="10752000" cy="560000"/>
          </a:xfrm>
          <a:prstGeom prst="rect">
            <a:avLst/>
          </a:prstGeom>
          <a:noFill/>
        </p:spPr>
        <p:txBody>
          <a:bodyPr wrap="square" lIns="72000" tIns="36000" rIns="72000" bIns="36000">
            <a:norm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buNone/>
            </a:pPr>
            <a:r>
              <a:rPr lang="en-AU" sz="2000" b="1" dirty="0">
                <a:solidFill>
                  <a:srgbClr val="1B365D"/>
                </a:solidFill>
                <a:latin typeface="Gadugi"/>
              </a:rPr>
              <a:t>Key Dependencies &amp; SLAs</a:t>
            </a:r>
          </a:p>
        </p:txBody>
      </p:sp>
      <p:graphicFrame>
        <p:nvGraphicFramePr>
          <p:cNvPr id="143" name="Table 143"/>
          <p:cNvGraphicFramePr/>
          <p:nvPr/>
        </p:nvGraphicFramePr>
        <p:xfrm>
          <a:off x="720000" y="1550000"/>
          <a:ext cx="10752000" cy="960120"/>
        </p:xfrm>
        <a:graphic>
          <a:graphicData uri="http://schemas.openxmlformats.org/drawingml/2006/table">
            <a:tbl>
              <a:tblPr firstRow="1" bandRow="1"/>
              <a:tblGrid>
                <a:gridCol w="5376000"/>
                <a:gridCol w="5376000"/>
              </a:tblGrid>
              <a:tr h="320040"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1000" b="1" dirty="0">
                          <a:solidFill>
                            <a:srgbClr val="FFFFFF"/>
                          </a:solidFill>
                          <a:latin typeface="Arial"/>
                        </a:rPr>
                        <a:t>Dependency</a:t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1000" b="1" dirty="0">
                          <a:solidFill>
                            <a:srgbClr val="FFFFFF"/>
                          </a:solidFill>
                          <a:latin typeface="Arial"/>
                        </a:rPr>
                        <a:t>Resolution</a:t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1B365D"/>
                    </a:solidFill>
                  </a:tcPr>
                </a:tc>
              </a:tr>
              <a:tr h="400050"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1000" dirty="0">
                          <a:solidFill>
                            <a:srgbClr val="191919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1000" dirty="0">
                          <a:solidFill>
                            <a:srgbClr val="191919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1000" dirty="0">
                          <a:solidFill>
                            <a:srgbClr val="191919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1000" dirty="0">
                          <a:solidFill>
                            <a:srgbClr val="191919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144" name="TextBox 144"/>
          <p:cNvSpPr txBox="1"/>
          <p:nvPr/>
        </p:nvSpPr>
        <p:spPr>
          <a:xfrm>
            <a:off x="720000" y="3350000"/>
            <a:ext cx="10752000" cy="300000"/>
          </a:xfrm>
          <a:prstGeom prst="rect">
            <a:avLst/>
          </a:prstGeom>
          <a:noFill/>
        </p:spPr>
        <p:txBody>
          <a:bodyPr wrap="square" lIns="72000" tIns="36000" rIns="72000" bIns="36000">
            <a:norm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buNone/>
            </a:pPr>
            <a:r>
              <a:rPr lang="en-AU" sz="1100" b="1" dirty="0">
                <a:solidFill>
                  <a:srgbClr val="1B365D"/>
                </a:solidFill>
                <a:latin typeface="Arial"/>
              </a:rPr>
              <a:t>SLAs — technology details</a:t>
            </a:r>
          </a:p>
        </p:txBody>
      </p:sp>
      <p:graphicFrame>
        <p:nvGraphicFramePr>
          <p:cNvPr id="145" name="Table 145"/>
          <p:cNvGraphicFramePr/>
          <p:nvPr/>
        </p:nvGraphicFramePr>
        <p:xfrm>
          <a:off x="720000" y="3700000"/>
          <a:ext cx="10752000" cy="1600200"/>
        </p:xfrm>
        <a:graphic>
          <a:graphicData uri="http://schemas.openxmlformats.org/drawingml/2006/table">
            <a:tbl>
              <a:tblPr firstRow="1" bandRow="1"/>
              <a:tblGrid>
                <a:gridCol w="2700000"/>
                <a:gridCol w="8052000"/>
              </a:tblGrid>
              <a:tr h="420052"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1000" b="1" dirty="0">
                          <a:solidFill>
                            <a:srgbClr val="191919"/>
                          </a:solidFill>
                          <a:latin typeface="Arial"/>
                        </a:rPr>
                        <a:t>Highly available</a:t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1000" dirty="0">
                          <a:solidFill>
                            <a:srgbClr val="191919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0052"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1000" b="1" dirty="0">
                          <a:solidFill>
                            <a:srgbClr val="191919"/>
                          </a:solidFill>
                          <a:latin typeface="Arial"/>
                        </a:rPr>
                        <a:t>Disaster recovery</a:t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1000" dirty="0">
                          <a:solidFill>
                            <a:srgbClr val="191919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F5F5F5"/>
                    </a:solidFill>
                  </a:tcPr>
                </a:tc>
              </a:tr>
              <a:tr h="420052"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1000" b="1" dirty="0">
                          <a:solidFill>
                            <a:srgbClr val="191919"/>
                          </a:solidFill>
                          <a:latin typeface="Arial"/>
                        </a:rPr>
                        <a:t>Performance</a:t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1000" dirty="0">
                          <a:solidFill>
                            <a:srgbClr val="191919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0052"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1000" b="1" dirty="0">
                          <a:solidFill>
                            <a:srgbClr val="191919"/>
                          </a:solidFill>
                          <a:latin typeface="Arial"/>
                        </a:rPr>
                        <a:t>Load</a:t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1000" dirty="0">
                          <a:solidFill>
                            <a:srgbClr val="191919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TextBox 146"/>
          <p:cNvSpPr txBox="1"/>
          <p:nvPr/>
        </p:nvSpPr>
        <p:spPr>
          <a:xfrm>
            <a:off x="720000" y="520000"/>
            <a:ext cx="10752000" cy="300000"/>
          </a:xfrm>
          <a:prstGeom prst="rect">
            <a:avLst/>
          </a:prstGeom>
          <a:noFill/>
        </p:spPr>
        <p:txBody>
          <a:bodyPr wrap="square" lIns="72000" tIns="36000" rIns="72000" bIns="36000">
            <a:norm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buNone/>
            </a:pPr>
            <a:r>
              <a:rPr lang="en-AU" sz="1000" b="1" dirty="0">
                <a:solidFill>
                  <a:srgbClr val="FF9E1B"/>
                </a:solidFill>
                <a:latin typeface="Arial"/>
              </a:rPr>
              <a:t>ARCHITECTURE DESIGN REVIEW</a:t>
            </a:r>
          </a:p>
        </p:txBody>
      </p:sp>
      <p:sp>
        <p:nvSpPr>
          <p:cNvPr id="147" name="TextBox 147"/>
          <p:cNvSpPr txBox="1"/>
          <p:nvPr/>
        </p:nvSpPr>
        <p:spPr>
          <a:xfrm>
            <a:off x="720000" y="820000"/>
            <a:ext cx="10752000" cy="560000"/>
          </a:xfrm>
          <a:prstGeom prst="rect">
            <a:avLst/>
          </a:prstGeom>
          <a:noFill/>
        </p:spPr>
        <p:txBody>
          <a:bodyPr wrap="square" lIns="72000" tIns="36000" rIns="72000" bIns="36000">
            <a:norm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buNone/>
            </a:pPr>
            <a:r>
              <a:rPr lang="en-AU" sz="2000" b="1" dirty="0">
                <a:solidFill>
                  <a:srgbClr val="1B365D"/>
                </a:solidFill>
                <a:latin typeface="Gadugi"/>
              </a:rPr>
              <a:t>IT &amp; Architecture Principles Summary — review of conforming principles</a:t>
            </a:r>
          </a:p>
        </p:txBody>
      </p:sp>
      <p:graphicFrame>
        <p:nvGraphicFramePr>
          <p:cNvPr id="148" name="Table 148"/>
          <p:cNvGraphicFramePr/>
          <p:nvPr/>
        </p:nvGraphicFramePr>
        <p:xfrm>
          <a:off x="720000" y="1520000"/>
          <a:ext cx="10752000" cy="2240280"/>
        </p:xfrm>
        <a:graphic>
          <a:graphicData uri="http://schemas.openxmlformats.org/drawingml/2006/table">
            <a:tbl>
              <a:tblPr firstRow="1" bandRow="1"/>
              <a:tblGrid>
                <a:gridCol w="1000000"/>
                <a:gridCol w="900000"/>
                <a:gridCol w="2600000"/>
                <a:gridCol w="6252000"/>
              </a:tblGrid>
              <a:tr h="320040"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900" b="1" dirty="0">
                          <a:solidFill>
                            <a:srgbClr val="FFFFFF"/>
                          </a:solidFill>
                          <a:latin typeface="Arial"/>
                        </a:rPr>
                        <a:t>✔✕</a:t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900" b="1" dirty="0">
                          <a:solidFill>
                            <a:srgbClr val="FFFFFF"/>
                          </a:solidFill>
                          <a:latin typeface="Arial"/>
                        </a:rPr>
                        <a:t>ID</a:t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900" b="1" dirty="0">
                          <a:solidFill>
                            <a:srgbClr val="FFFFFF"/>
                          </a:solidFill>
                          <a:latin typeface="Arial"/>
                        </a:rPr>
                        <a:t>IT objective</a:t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900" b="1" dirty="0">
                          <a:solidFill>
                            <a:srgbClr val="FFFFFF"/>
                          </a:solidFill>
                          <a:latin typeface="Arial"/>
                        </a:rPr>
                        <a:t>Statement</a:t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1B365D"/>
                    </a:solidFill>
                  </a:tcPr>
                </a:tc>
              </a:tr>
              <a:tr h="360045"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850" dirty="0">
                          <a:solidFill>
                            <a:srgbClr val="191919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850" dirty="0">
                          <a:solidFill>
                            <a:srgbClr val="191919"/>
                          </a:solidFill>
                          <a:latin typeface="Arial"/>
                        </a:rPr>
                        <a:t>EA-01</a:t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850" dirty="0">
                          <a:solidFill>
                            <a:srgbClr val="191919"/>
                          </a:solidFill>
                          <a:latin typeface="Arial"/>
                        </a:rPr>
                        <a:t>Leverage IT assets</a:t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850" dirty="0">
                          <a:solidFill>
                            <a:srgbClr val="191919"/>
                          </a:solidFill>
                          <a:latin typeface="Arial"/>
                        </a:rPr>
                        <a:t>Maximise return from IT assets such as data, applications &amp; integration, infrastructure and network.</a:t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0045"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850" dirty="0">
                          <a:solidFill>
                            <a:srgbClr val="191919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850" dirty="0">
                          <a:solidFill>
                            <a:srgbClr val="191919"/>
                          </a:solidFill>
                          <a:latin typeface="Arial"/>
                        </a:rPr>
                        <a:t>EA-02</a:t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850" dirty="0">
                          <a:solidFill>
                            <a:srgbClr val="191919"/>
                          </a:solidFill>
                          <a:latin typeface="Arial"/>
                        </a:rPr>
                        <a:t>Enable new business capability</a:t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850" dirty="0">
                          <a:solidFill>
                            <a:srgbClr val="191919"/>
                          </a:solidFill>
                          <a:latin typeface="Arial"/>
                        </a:rPr>
                        <a:t>Use new technology to produce innovative products, and existing technology in new ways.</a:t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F5F5F5"/>
                    </a:solidFill>
                  </a:tcPr>
                </a:tc>
              </a:tr>
              <a:tr h="360045"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850" dirty="0">
                          <a:solidFill>
                            <a:srgbClr val="191919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850" dirty="0">
                          <a:solidFill>
                            <a:srgbClr val="191919"/>
                          </a:solidFill>
                          <a:latin typeface="Arial"/>
                        </a:rPr>
                        <a:t>EA-03</a:t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850" dirty="0">
                          <a:solidFill>
                            <a:srgbClr val="191919"/>
                          </a:solidFill>
                          <a:latin typeface="Arial"/>
                        </a:rPr>
                        <a:t>Reduce IT risk</a:t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850" dirty="0">
                          <a:solidFill>
                            <a:srgbClr val="191919"/>
                          </a:solidFill>
                          <a:latin typeface="Arial"/>
                        </a:rPr>
                        <a:t>Minimise exposure to untried or unproven infrastructure, system software, applications, or unproven combinations of these.</a:t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0045"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850" dirty="0">
                          <a:solidFill>
                            <a:srgbClr val="191919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850" dirty="0">
                          <a:solidFill>
                            <a:srgbClr val="191919"/>
                          </a:solidFill>
                          <a:latin typeface="Arial"/>
                        </a:rPr>
                        <a:t>EA-04</a:t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850" dirty="0">
                          <a:solidFill>
                            <a:srgbClr val="191919"/>
                          </a:solidFill>
                          <a:latin typeface="Arial"/>
                        </a:rPr>
                        <a:t>Minimise IT costs</a:t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850" dirty="0">
                          <a:solidFill>
                            <a:srgbClr val="191919"/>
                          </a:solidFill>
                          <a:latin typeface="Arial"/>
                        </a:rPr>
                        <a:t>Efficiency improvements that reduce costs in application and infrastructure operations and maintenance.</a:t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F5F5F5"/>
                    </a:solidFill>
                  </a:tcPr>
                </a:tc>
              </a:tr>
              <a:tr h="360045"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850" dirty="0">
                          <a:solidFill>
                            <a:srgbClr val="191919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850" dirty="0">
                          <a:solidFill>
                            <a:srgbClr val="191919"/>
                          </a:solidFill>
                          <a:latin typeface="Arial"/>
                        </a:rPr>
                        <a:t>EA-05</a:t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850" dirty="0">
                          <a:solidFill>
                            <a:srgbClr val="191919"/>
                          </a:solidFill>
                          <a:latin typeface="Arial"/>
                        </a:rPr>
                        <a:t>Increase IT flexibility</a:t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850" dirty="0">
                          <a:solidFill>
                            <a:srgbClr val="191919"/>
                          </a:solidFill>
                          <a:latin typeface="Arial"/>
                        </a:rPr>
                        <a:t>Rapidly establish new products and business processes using existing IT systems, so APM can respond quickly to change.</a:t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0045"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850" dirty="0">
                          <a:solidFill>
                            <a:srgbClr val="191919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850" dirty="0">
                          <a:solidFill>
                            <a:srgbClr val="191919"/>
                          </a:solidFill>
                          <a:latin typeface="Arial"/>
                        </a:rPr>
                        <a:t>EA-06</a:t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850" dirty="0">
                          <a:solidFill>
                            <a:srgbClr val="191919"/>
                          </a:solidFill>
                          <a:latin typeface="Arial"/>
                        </a:rPr>
                        <a:t>Improve speed to market</a:t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850" dirty="0">
                          <a:solidFill>
                            <a:srgbClr val="191919"/>
                          </a:solidFill>
                          <a:latin typeface="Arial"/>
                        </a:rPr>
                        <a:t>Apply changes or deploy new applications in a timeframe congruent with business drivers.</a:t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9" name="Table 149"/>
          <p:cNvGraphicFramePr/>
          <p:nvPr/>
        </p:nvGraphicFramePr>
        <p:xfrm>
          <a:off x="720000" y="4200000"/>
          <a:ext cx="10752000" cy="1600200"/>
        </p:xfrm>
        <a:graphic>
          <a:graphicData uri="http://schemas.openxmlformats.org/drawingml/2006/table">
            <a:tbl>
              <a:tblPr firstRow="1" bandRow="1"/>
              <a:tblGrid>
                <a:gridCol w="1000000"/>
                <a:gridCol w="900000"/>
                <a:gridCol w="2600000"/>
                <a:gridCol w="6252000"/>
              </a:tblGrid>
              <a:tr h="320040"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900" b="1" dirty="0">
                          <a:solidFill>
                            <a:srgbClr val="FFFFFF"/>
                          </a:solidFill>
                          <a:latin typeface="Arial"/>
                        </a:rPr>
                        <a:t>✔✕</a:t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900" b="1" dirty="0">
                          <a:solidFill>
                            <a:srgbClr val="FFFFFF"/>
                          </a:solidFill>
                          <a:latin typeface="Arial"/>
                        </a:rPr>
                        <a:t>ID</a:t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900" b="1" dirty="0">
                          <a:solidFill>
                            <a:srgbClr val="FFFFFF"/>
                          </a:solidFill>
                          <a:latin typeface="Arial"/>
                        </a:rPr>
                        <a:t>Strategic principle</a:t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900" b="1" dirty="0">
                          <a:solidFill>
                            <a:srgbClr val="FFFFFF"/>
                          </a:solidFill>
                          <a:latin typeface="Arial"/>
                        </a:rPr>
                        <a:t>Statement</a:t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1B365D"/>
                    </a:solidFill>
                  </a:tcPr>
                </a:tc>
              </a:tr>
              <a:tr h="360045"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850" dirty="0">
                          <a:solidFill>
                            <a:srgbClr val="191919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850" dirty="0">
                          <a:solidFill>
                            <a:srgbClr val="191919"/>
                          </a:solidFill>
                          <a:latin typeface="Arial"/>
                        </a:rPr>
                        <a:t>EA-S1</a:t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850" dirty="0">
                          <a:solidFill>
                            <a:srgbClr val="191919"/>
                          </a:solidFill>
                          <a:latin typeface="Arial"/>
                        </a:rPr>
                        <a:t>Think APM first</a:t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850" dirty="0">
                          <a:solidFill>
                            <a:srgbClr val="191919"/>
                          </a:solidFill>
                          <a:latin typeface="Arial"/>
                        </a:rPr>
                        <a:t>Solutions must consider the enterprise impact of architectural decisions.</a:t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0045"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850" dirty="0">
                          <a:solidFill>
                            <a:srgbClr val="191919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850" dirty="0">
                          <a:solidFill>
                            <a:srgbClr val="191919"/>
                          </a:solidFill>
                          <a:latin typeface="Arial"/>
                        </a:rPr>
                        <a:t>EA-S2</a:t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850" dirty="0">
                          <a:solidFill>
                            <a:srgbClr val="191919"/>
                          </a:solidFill>
                          <a:latin typeface="Arial"/>
                        </a:rPr>
                        <a:t>Abide by agreed principles and governance</a:t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850" dirty="0">
                          <a:solidFill>
                            <a:srgbClr val="191919"/>
                          </a:solidFill>
                          <a:latin typeface="Arial"/>
                        </a:rPr>
                        <a:t>IT and business units agree the EA framework; EA objectives must be understood and agreed.</a:t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F5F5F5"/>
                    </a:solidFill>
                  </a:tcPr>
                </a:tc>
              </a:tr>
              <a:tr h="360045"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850" dirty="0">
                          <a:solidFill>
                            <a:srgbClr val="191919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850" dirty="0">
                          <a:solidFill>
                            <a:srgbClr val="191919"/>
                          </a:solidFill>
                          <a:latin typeface="Arial"/>
                        </a:rPr>
                        <a:t>EA-S3</a:t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850" dirty="0">
                          <a:solidFill>
                            <a:srgbClr val="191919"/>
                          </a:solidFill>
                          <a:latin typeface="Arial"/>
                        </a:rPr>
                        <a:t>Data is an enterprise asset</a:t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850" dirty="0">
                          <a:solidFill>
                            <a:srgbClr val="191919"/>
                          </a:solidFill>
                          <a:latin typeface="Arial"/>
                        </a:rPr>
                        <a:t>Data is a shared resource across APM — not owned by any one organisational unit; it must be available and shared across the enterprise.</a:t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0045"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850" dirty="0">
                          <a:solidFill>
                            <a:srgbClr val="191919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850" dirty="0">
                          <a:solidFill>
                            <a:srgbClr val="191919"/>
                          </a:solidFill>
                          <a:latin typeface="Arial"/>
                        </a:rPr>
                        <a:t>EA-S4</a:t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850" dirty="0">
                          <a:solidFill>
                            <a:srgbClr val="191919"/>
                          </a:solidFill>
                          <a:latin typeface="Arial"/>
                        </a:rPr>
                        <a:t>Reuse before buy or build</a:t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850" dirty="0">
                          <a:solidFill>
                            <a:srgbClr val="191919"/>
                          </a:solidFill>
                          <a:latin typeface="Arial"/>
                        </a:rPr>
                        <a:t>Reuse existing capability first; only buy or build where existing capability cannot meet the requirement.</a:t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TextBox 150"/>
          <p:cNvSpPr txBox="1"/>
          <p:nvPr/>
        </p:nvSpPr>
        <p:spPr>
          <a:xfrm>
            <a:off x="720000" y="520000"/>
            <a:ext cx="10752000" cy="300000"/>
          </a:xfrm>
          <a:prstGeom prst="rect">
            <a:avLst/>
          </a:prstGeom>
          <a:noFill/>
        </p:spPr>
        <p:txBody>
          <a:bodyPr wrap="square" lIns="72000" tIns="36000" rIns="72000" bIns="36000">
            <a:norm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buNone/>
            </a:pPr>
            <a:r>
              <a:rPr lang="en-AU" sz="1000" b="1" dirty="0">
                <a:solidFill>
                  <a:srgbClr val="FF9E1B"/>
                </a:solidFill>
                <a:latin typeface="Arial"/>
              </a:rPr>
              <a:t>ARCHITECTURE DESIGN AUTHORITY</a:t>
            </a:r>
          </a:p>
        </p:txBody>
      </p:sp>
      <p:sp>
        <p:nvSpPr>
          <p:cNvPr id="151" name="TextBox 151"/>
          <p:cNvSpPr txBox="1"/>
          <p:nvPr/>
        </p:nvSpPr>
        <p:spPr>
          <a:xfrm>
            <a:off x="720000" y="820000"/>
            <a:ext cx="10752000" cy="560000"/>
          </a:xfrm>
          <a:prstGeom prst="rect">
            <a:avLst/>
          </a:prstGeom>
          <a:noFill/>
        </p:spPr>
        <p:txBody>
          <a:bodyPr wrap="square" lIns="72000" tIns="36000" rIns="72000" bIns="36000">
            <a:norm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buNone/>
            </a:pPr>
            <a:r>
              <a:rPr lang="en-AU" sz="2000" b="1" dirty="0">
                <a:solidFill>
                  <a:srgbClr val="1B365D"/>
                </a:solidFill>
                <a:latin typeface="Gadugi"/>
              </a:rPr>
              <a:t>ARIM Rating Assessment</a:t>
            </a:r>
          </a:p>
        </p:txBody>
      </p:sp>
      <p:graphicFrame>
        <p:nvGraphicFramePr>
          <p:cNvPr id="152" name="Table 152"/>
          <p:cNvGraphicFramePr/>
          <p:nvPr/>
        </p:nvGraphicFramePr>
        <p:xfrm>
          <a:off x="720000" y="1600000"/>
          <a:ext cx="10752000" cy="2880360"/>
        </p:xfrm>
        <a:graphic>
          <a:graphicData uri="http://schemas.openxmlformats.org/drawingml/2006/table">
            <a:tbl>
              <a:tblPr firstRow="1" bandRow="1"/>
              <a:tblGrid>
                <a:gridCol w="1100000"/>
                <a:gridCol w="7300000"/>
                <a:gridCol w="2352000"/>
              </a:tblGrid>
              <a:tr h="320040"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1000" b="1" dirty="0">
                          <a:solidFill>
                            <a:srgbClr val="FFFFFF"/>
                          </a:solidFill>
                          <a:latin typeface="Arial"/>
                        </a:rPr>
                        <a:t>✔✕</a:t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1000" b="1" dirty="0">
                          <a:solidFill>
                            <a:srgbClr val="FFFFFF"/>
                          </a:solidFill>
                          <a:latin typeface="Arial"/>
                        </a:rPr>
                        <a:t>Assessment question</a:t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1000" b="1" dirty="0">
                          <a:solidFill>
                            <a:srgbClr val="FFFFFF"/>
                          </a:solidFill>
                          <a:latin typeface="Arial"/>
                        </a:rPr>
                        <a:t>ARIM rating</a:t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1B365D"/>
                    </a:solidFill>
                  </a:tcPr>
                </a:tc>
              </a:tr>
              <a:tr h="380047"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1000" dirty="0">
                          <a:solidFill>
                            <a:srgbClr val="191919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1000" dirty="0">
                          <a:solidFill>
                            <a:srgbClr val="191919"/>
                          </a:solidFill>
                          <a:latin typeface="Arial"/>
                        </a:rPr>
                        <a:t>Are there new applications being introduced?</a:t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1000" dirty="0">
                          <a:solidFill>
                            <a:srgbClr val="191919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047"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1000" dirty="0">
                          <a:solidFill>
                            <a:srgbClr val="191919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1000" dirty="0">
                          <a:solidFill>
                            <a:srgbClr val="191919"/>
                          </a:solidFill>
                          <a:latin typeface="Arial"/>
                        </a:rPr>
                        <a:t>Are there new interfaces being created inside the organisation?</a:t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1000" dirty="0">
                          <a:solidFill>
                            <a:srgbClr val="191919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F5F5F5"/>
                    </a:solidFill>
                  </a:tcPr>
                </a:tc>
              </a:tr>
              <a:tr h="380047"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1000" dirty="0">
                          <a:solidFill>
                            <a:srgbClr val="191919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1000" dirty="0">
                          <a:solidFill>
                            <a:srgbClr val="191919"/>
                          </a:solidFill>
                          <a:latin typeface="Arial"/>
                        </a:rPr>
                        <a:t>Are there new interfaces with outside entities being created?</a:t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1000" dirty="0">
                          <a:solidFill>
                            <a:srgbClr val="191919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047"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1000" dirty="0">
                          <a:solidFill>
                            <a:srgbClr val="191919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1000" dirty="0">
                          <a:solidFill>
                            <a:srgbClr val="191919"/>
                          </a:solidFill>
                          <a:latin typeface="Arial"/>
                        </a:rPr>
                        <a:t>Are there new business workflows being introduced?</a:t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1000" dirty="0">
                          <a:solidFill>
                            <a:srgbClr val="191919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F5F5F5"/>
                    </a:solidFill>
                  </a:tcPr>
                </a:tc>
              </a:tr>
              <a:tr h="380047"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1000" dirty="0">
                          <a:solidFill>
                            <a:srgbClr val="191919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1000" dirty="0">
                          <a:solidFill>
                            <a:srgbClr val="191919"/>
                          </a:solidFill>
                          <a:latin typeface="Arial"/>
                        </a:rPr>
                        <a:t>Are there increased business volumes?</a:t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1000" dirty="0">
                          <a:solidFill>
                            <a:srgbClr val="191919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047"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1000" dirty="0">
                          <a:solidFill>
                            <a:srgbClr val="191919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1000" dirty="0">
                          <a:solidFill>
                            <a:srgbClr val="191919"/>
                          </a:solidFill>
                          <a:latin typeface="Arial"/>
                        </a:rPr>
                        <a:t>Are there changes to SLAs?</a:t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1000" dirty="0">
                          <a:solidFill>
                            <a:srgbClr val="191919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F5F5F5"/>
                    </a:solidFill>
                  </a:tcPr>
                </a:tc>
              </a:tr>
              <a:tr h="380047"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1000" dirty="0">
                          <a:solidFill>
                            <a:srgbClr val="191919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1000" dirty="0">
                          <a:solidFill>
                            <a:srgbClr val="191919"/>
                          </a:solidFill>
                          <a:latin typeface="Arial"/>
                        </a:rPr>
                        <a:t>Are there changes to underlying infrastructure?</a:t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1000" dirty="0">
                          <a:solidFill>
                            <a:srgbClr val="191919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047"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1000" dirty="0">
                          <a:solidFill>
                            <a:srgbClr val="191919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1000" dirty="0">
                          <a:solidFill>
                            <a:srgbClr val="191919"/>
                          </a:solidFill>
                          <a:latin typeface="Arial"/>
                        </a:rPr>
                        <a:t>Are there any violations of key architecture principles / standards?</a:t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1000" dirty="0">
                          <a:solidFill>
                            <a:srgbClr val="191919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TextBox 153"/>
          <p:cNvSpPr txBox="1"/>
          <p:nvPr/>
        </p:nvSpPr>
        <p:spPr>
          <a:xfrm>
            <a:off x="720000" y="520000"/>
            <a:ext cx="10752000" cy="300000"/>
          </a:xfrm>
          <a:prstGeom prst="rect">
            <a:avLst/>
          </a:prstGeom>
          <a:noFill/>
        </p:spPr>
        <p:txBody>
          <a:bodyPr wrap="square" lIns="72000" tIns="36000" rIns="72000" bIns="36000">
            <a:norm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buNone/>
            </a:pPr>
            <a:r>
              <a:rPr lang="en-AU" sz="1000" b="1" dirty="0">
                <a:solidFill>
                  <a:srgbClr val="FF9E1B"/>
                </a:solidFill>
                <a:latin typeface="Arial"/>
              </a:rPr>
              <a:t>ARCHITECTURE DESIGN REVIEW</a:t>
            </a:r>
          </a:p>
        </p:txBody>
      </p:sp>
      <p:sp>
        <p:nvSpPr>
          <p:cNvPr id="154" name="TextBox 154"/>
          <p:cNvSpPr txBox="1"/>
          <p:nvPr/>
        </p:nvSpPr>
        <p:spPr>
          <a:xfrm>
            <a:off x="720000" y="820000"/>
            <a:ext cx="10752000" cy="560000"/>
          </a:xfrm>
          <a:prstGeom prst="rect">
            <a:avLst/>
          </a:prstGeom>
          <a:noFill/>
        </p:spPr>
        <p:txBody>
          <a:bodyPr wrap="square" lIns="72000" tIns="36000" rIns="72000" bIns="36000">
            <a:norm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buNone/>
            </a:pPr>
            <a:r>
              <a:rPr lang="en-AU" sz="2000" b="1" dirty="0">
                <a:solidFill>
                  <a:srgbClr val="1B365D"/>
                </a:solidFill>
                <a:latin typeface="Gadugi"/>
              </a:rPr>
              <a:t>Architecture Design Authority Decision</a:t>
            </a:r>
          </a:p>
        </p:txBody>
      </p:sp>
      <p:graphicFrame>
        <p:nvGraphicFramePr>
          <p:cNvPr id="155" name="Table 155"/>
          <p:cNvGraphicFramePr/>
          <p:nvPr/>
        </p:nvGraphicFramePr>
        <p:xfrm>
          <a:off x="720000" y="1600000"/>
          <a:ext cx="10752000" cy="2560320"/>
        </p:xfrm>
        <a:graphic>
          <a:graphicData uri="http://schemas.openxmlformats.org/drawingml/2006/table">
            <a:tbl>
              <a:tblPr firstRow="1" bandRow="1"/>
              <a:tblGrid>
                <a:gridCol w="4300000"/>
                <a:gridCol w="6452000"/>
              </a:tblGrid>
              <a:tr h="500062"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1050" b="1" dirty="0">
                          <a:solidFill>
                            <a:srgbClr val="191919"/>
                          </a:solidFill>
                          <a:latin typeface="Arial"/>
                        </a:rPr>
                        <a:t>Conforms to the strategic plan (Y/N)</a:t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1050" dirty="0">
                          <a:solidFill>
                            <a:srgbClr val="191919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0062"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1050" b="1" dirty="0">
                          <a:solidFill>
                            <a:srgbClr val="191919"/>
                          </a:solidFill>
                          <a:latin typeface="Arial"/>
                        </a:rPr>
                        <a:t>Conforms to architecture principles (Y/N)</a:t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1050" dirty="0">
                          <a:solidFill>
                            <a:srgbClr val="191919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F5F5F5"/>
                    </a:solidFill>
                  </a:tcPr>
                </a:tc>
              </a:tr>
              <a:tr h="500062"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1050" b="1" dirty="0">
                          <a:solidFill>
                            <a:srgbClr val="191919"/>
                          </a:solidFill>
                          <a:latin typeface="Arial"/>
                        </a:rPr>
                        <a:t>Initial ARIM rating</a:t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1050" dirty="0">
                          <a:solidFill>
                            <a:srgbClr val="191919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0062"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1050" b="1" dirty="0">
                          <a:solidFill>
                            <a:srgbClr val="191919"/>
                          </a:solidFill>
                          <a:latin typeface="Arial"/>
                        </a:rPr>
                        <a:t>Application tier level (1, 2 or 3)</a:t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1050" dirty="0">
                          <a:solidFill>
                            <a:srgbClr val="191919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F5F5F5"/>
                    </a:solidFill>
                  </a:tcPr>
                </a:tc>
              </a:tr>
              <a:tr h="500062"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1050" b="1" dirty="0">
                          <a:solidFill>
                            <a:srgbClr val="191919"/>
                          </a:solidFill>
                          <a:latin typeface="Arial"/>
                        </a:rPr>
                        <a:t>Rating: Accept (A), Accept with conditions (AC), Reject (R) or Exception (E)</a:t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1050" dirty="0">
                          <a:solidFill>
                            <a:srgbClr val="191919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0062"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1050" b="1" dirty="0">
                          <a:solidFill>
                            <a:srgbClr val="191919"/>
                          </a:solidFill>
                          <a:latin typeface="Arial"/>
                        </a:rPr>
                        <a:t>Justification for Design Authority decision</a:t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1050" dirty="0">
                          <a:solidFill>
                            <a:srgbClr val="191919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F5F5F5"/>
                    </a:solidFill>
                  </a:tcPr>
                </a:tc>
              </a:tr>
              <a:tr h="500062"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1050" b="1" dirty="0">
                          <a:solidFill>
                            <a:srgbClr val="191919"/>
                          </a:solidFill>
                          <a:latin typeface="Arial"/>
                        </a:rPr>
                        <a:t>Overall comments</a:t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000" tIns="27000" rIns="54000" bIns="27000" anchor="ctr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AU" sz="1050" dirty="0">
                          <a:solidFill>
                            <a:srgbClr val="191919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ctr"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Content">
  <a:themeElements>
    <a:clrScheme name="APM - 2020">
      <a:dk1>
        <a:srgbClr val="191919"/>
      </a:dk1>
      <a:lt1>
        <a:srgbClr val="FFFFFF"/>
      </a:lt1>
      <a:dk2>
        <a:srgbClr val="1B365D"/>
      </a:dk2>
      <a:lt2>
        <a:srgbClr val="F5F5F5"/>
      </a:lt2>
      <a:accent1>
        <a:srgbClr val="1F2A44"/>
      </a:accent1>
      <a:accent2>
        <a:srgbClr val="151F6D"/>
      </a:accent2>
      <a:accent3>
        <a:srgbClr val="003087"/>
      </a:accent3>
      <a:accent4>
        <a:srgbClr val="D9D9D6"/>
      </a:accent4>
      <a:accent5>
        <a:srgbClr val="FF9E1B"/>
      </a:accent5>
      <a:accent6>
        <a:srgbClr val="48B2E8"/>
      </a:accent6>
      <a:hlink>
        <a:srgbClr val="EC008C"/>
      </a:hlink>
      <a:folHlink>
        <a:srgbClr val="A3D52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APM Corporate - Powerpoint Template (June 2025)" id="{90FEF58D-B474-4E5F-BA35-8BFC8C96692B}" vid="{6147A659-A26C-44CC-B876-134848C16B8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7C5FF55BD15C746A1D08482036F8855" ma:contentTypeVersion="4" ma:contentTypeDescription="Create a new document." ma:contentTypeScope="" ma:versionID="bcfed781e894bd49fb3e2274ce2dabe9">
  <xsd:schema xmlns:xsd="http://www.w3.org/2001/XMLSchema" xmlns:xs="http://www.w3.org/2001/XMLSchema" xmlns:p="http://schemas.microsoft.com/office/2006/metadata/properties" xmlns:ns2="2d7f0b86-6925-412a-9228-72b360014713" targetNamespace="http://schemas.microsoft.com/office/2006/metadata/properties" ma:root="true" ma:fieldsID="511457402e7c204e2910f901689cf477" ns2:_="">
    <xsd:import namespace="2d7f0b86-6925-412a-9228-72b36001471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d7f0b86-6925-412a-9228-72b36001471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6AF70BB-2079-4F8C-9C1D-D55AA374453E}">
  <ds:schemaRefs>
    <ds:schemaRef ds:uri="http://purl.org/dc/elements/1.1/"/>
    <ds:schemaRef ds:uri="http://www.w3.org/XML/1998/namespace"/>
    <ds:schemaRef ds:uri="http://purl.org/dc/dcmitype/"/>
    <ds:schemaRef ds:uri="http://schemas.microsoft.com/office/2006/metadata/properties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schemas.microsoft.com/office/infopath/2007/PartnerControls"/>
    <ds:schemaRef ds:uri="9f01dad3-68ee-498c-9361-bfbde00918fa"/>
  </ds:schemaRefs>
</ds:datastoreItem>
</file>

<file path=customXml/itemProps2.xml><?xml version="1.0" encoding="utf-8"?>
<ds:datastoreItem xmlns:ds="http://schemas.openxmlformats.org/officeDocument/2006/customXml" ds:itemID="{5AE63B8D-FB8C-494A-8B3C-9E5B1365FA16}"/>
</file>

<file path=customXml/itemProps3.xml><?xml version="1.0" encoding="utf-8"?>
<ds:datastoreItem xmlns:ds="http://schemas.openxmlformats.org/officeDocument/2006/customXml" ds:itemID="{35DA6986-1C27-421B-BA49-26D325BD341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APM Corporate - Powerpoint Template</Template>
  <TotalTime>334</TotalTime>
  <Words>836</Words>
  <Application>Microsoft Office PowerPoint</Application>
  <PresentationFormat>Widescreen</PresentationFormat>
  <Paragraphs>158</Paragraphs>
  <Slides>3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Content</vt:lpstr>
      <vt:lpstr>Architecture Templates  &amp; Change Management Process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Yogi Lingam</dc:creator>
  <cp:lastModifiedBy>Yogi Lingam</cp:lastModifiedBy>
  <cp:revision>4</cp:revision>
  <cp:lastPrinted>2025-10-09T01:32:16Z</cp:lastPrinted>
  <dcterms:created xsi:type="dcterms:W3CDTF">2025-10-09T00:39:55Z</dcterms:created>
  <dcterms:modified xsi:type="dcterms:W3CDTF">2025-10-22T03:13:21Z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0x010100C7C5FF55BD15C746A1D08482036F8855</vt:lpwstr>
  </property>
  <property fmtid="{D5CDD505-2E9C-101B-9397-08002B2CF9AE}" pid="4" name="ComplianceAssetId">
    <vt:lpwstr/>
  </property>
  <property fmtid="{D5CDD505-2E9C-101B-9397-08002B2CF9AE}" pid="5" name="_ExtendedDescription">
    <vt:lpwstr/>
  </property>
  <property fmtid="{D5CDD505-2E9C-101B-9397-08002B2CF9AE}" pid="6" name="TriggerFlowInfo">
    <vt:lpwstr/>
  </property>
  <property fmtid="{D5CDD505-2E9C-101B-9397-08002B2CF9AE}" pid="7" name="MSIP_Label_7d0f9f1f-f22f-44fd-8844-410aa22a8c4a_Enabled">
    <vt:lpwstr>true</vt:lpwstr>
  </property>
  <property fmtid="{D5CDD505-2E9C-101B-9397-08002B2CF9AE}" pid="8" name="MSIP_Label_7d0f9f1f-f22f-44fd-8844-410aa22a8c4a_SetDate">
    <vt:lpwstr>2022-08-29T00:46:25Z</vt:lpwstr>
  </property>
  <property fmtid="{D5CDD505-2E9C-101B-9397-08002B2CF9AE}" pid="9" name="MSIP_Label_7d0f9f1f-f22f-44fd-8844-410aa22a8c4a_Method">
    <vt:lpwstr>Standard</vt:lpwstr>
  </property>
  <property fmtid="{D5CDD505-2E9C-101B-9397-08002B2CF9AE}" pid="10" name="MSIP_Label_7d0f9f1f-f22f-44fd-8844-410aa22a8c4a_Name">
    <vt:lpwstr>Confidential</vt:lpwstr>
  </property>
  <property fmtid="{D5CDD505-2E9C-101B-9397-08002B2CF9AE}" pid="11" name="MSIP_Label_7d0f9f1f-f22f-44fd-8844-410aa22a8c4a_SiteId">
    <vt:lpwstr>fa7adf0d-de2d-4570-8f5f-4bca4772988f</vt:lpwstr>
  </property>
  <property fmtid="{D5CDD505-2E9C-101B-9397-08002B2CF9AE}" pid="12" name="MSIP_Label_7d0f9f1f-f22f-44fd-8844-410aa22a8c4a_ActionId">
    <vt:lpwstr>05d3e03f-3eda-4f20-8655-b641ad37b4eb</vt:lpwstr>
  </property>
  <property fmtid="{D5CDD505-2E9C-101B-9397-08002B2CF9AE}" pid="13" name="MSIP_Label_7d0f9f1f-f22f-44fd-8844-410aa22a8c4a_ContentBits">
    <vt:lpwstr>2</vt:lpwstr>
  </property>
</Properties>
</file>